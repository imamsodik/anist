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67" r:id="rId8"/>
    <p:sldId id="268" r:id="rId9"/>
    <p:sldId id="259" r:id="rId10"/>
    <p:sldId id="269" r:id="rId11"/>
    <p:sldId id="271" r:id="rId12"/>
    <p:sldId id="260" r:id="rId13"/>
    <p:sldId id="261" r:id="rId14"/>
    <p:sldId id="262" r:id="rId15"/>
    <p:sldId id="263" r:id="rId16"/>
    <p:sldId id="264" r:id="rId17"/>
    <p:sldId id="265" r:id="rId18"/>
    <p:sldId id="26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presentasi untuk peserta IAKA 2026. Sesuaikan bagian yang dibawakan dengan fase yang sedang dipresentasikan (lihat slide Alur).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tidak selalu dibawakan sekaligus. Pitching Fase 1 fokus pada bagian 1–4; bagian berikutnya menyusul sesuai kemajuan proyek di tiap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(Panduan BAB 1): kondisi saat ini, alasan penting, data awal. Setiap angka harus punya satuan, periode, dan sumber — tanpa itu dianggap belum terverifikasi.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(Panduan BAB 1): kondisi saat ini, alasan penting, data awal. Setiap angka harus punya satuan, periode, dan sumber — tanpa itu dianggap belum terverifikasi.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(Panduan BAB 1): kondisi saat ini, alasan penting, data awal. Setiap angka harus punya satuan, periode, dan sumber — tanpa itu dianggap belum terverifikasi.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harus spesifik dan terukur. Cantumkan baseline dengan satuan jelas dan sumbernya (log produksi, laporan QC, tiket helpdesk, catatan keuangan) beserta periode pengambilan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harus spesifik dan terukur. Cantumkan baseline dengan satuan jelas dan sumbernya (log produksi, laporan QC, tiket helpdesk, catatan keuangan) beserta periode pengambilan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harus spesifik dan terukur. Cantumkan baseline dengan satuan jelas dan sumbernya (log produksi, laporan QC, tiket helpdesk, catatan keuangan) beserta periode pengambilan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2): akar masalah dengan metode sederhana (5 Why / fishbone). Solusi Anda nanti harus jelas menyerang akar masalah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3–4): mekanisme kerja, keunggulan, kebaruan, alur before/after, target &amp; estimasi. Untuk Kaizen sebut SOP yang diperbaiki; untuk Inovasi sebut potensi standar baru / sumber pendapatan. Cantumkan rencana uji coba (MVP) dan calon Fasilitator min. Kadep.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6–7): laporan uji coba (PIC, lokasi, waktu, sumber daya), kendala &amp; problem solving, tabel Before/After dengan n dan grafik tren, dibandingkan target Fase 1. Lampirkan data mentah yang dapat diolah dan bukti bertanggal.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8–9): perhitungan business impact dengan kertas kerja terbuka (rumus dapat diperiksa), plus People/Customer/ESG impact. Setiap klaim non-finansial harus berbukti, sama seperti klaim finansial.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10): mekanisme keberlanjutan — pengesahan &amp; registrasi dokumen, dokumen turunan diperbarui, bukti sosialisasi, penutupan resmi sistem lama, transfer knowledge, jadwal audit keberlanjutan, dan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wajib (BAB 11–12): tantangan, mitigasi, pembelajaran, kesimpulan &amp; rekomendasi pengembangan.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pesan utama proyek dalam satu kalimat. Ingatkan penilaian IAKA 2026 berbasis bukti nyata di unit 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FFFFFF">
              <a:alpha val="8000"/>
            </a:srgbClr>
          </a:solidFill>
        </p:spPr>
        <p:txBody>
          <a:bodyPr/>
          <a:p/>
        </p:txBody>
      </p:sp>
      <p:sp>
        <p:nvSpPr>
          <p:cNvPr id="3" name="Shape 1"/>
          <p:cNvSpPr/>
          <p:nvPr/>
        </p:nvSpPr>
        <p:spPr>
          <a:xfrm>
            <a:off x="9875520" y="3840480"/>
            <a:ext cx="4206240" cy="4206240"/>
          </a:xfrm>
          <a:prstGeom prst="ellipse">
            <a:avLst/>
          </a:prstGeom>
          <a:solidFill>
            <a:srgbClr val="CB69FF">
              <a:alpha val="18000"/>
            </a:srgbClr>
          </a:solidFill>
        </p:spPr>
        <p:txBody>
          <a:bodyPr/>
          <a:p/>
        </p:txBody>
      </p:sp>
      <p:sp>
        <p:nvSpPr>
          <p:cNvPr id="4" name="Text 2"/>
          <p:cNvSpPr/>
          <p:nvPr/>
        </p:nvSpPr>
        <p:spPr>
          <a:xfrm>
            <a:off x="548640" y="1371600"/>
            <a:ext cx="8229600" cy="365760"/>
          </a:xfrm>
          <a:prstGeom prst="rect">
            <a:avLst/>
          </a:prstGeom>
          <a:noFill/>
        </p:spPr>
        <p:txBody>
          <a:bodyPr wrap="square" lIns="0" tIns="0" rIns="0" bIns="0" rtlCol="0" anchor="ctr"/>
          <a:lstStyle/>
          <a:p>
            <a:pPr marL="0" indent="0">
              <a:buNone/>
            </a:pPr>
            <a:r>
              <a:rPr lang="en-US" sz="1300" b="1" kern="0" spc="200" dirty="0">
                <a:solidFill>
                  <a:schemeClr val="bg2"/>
                </a:solidFill>
                <a:latin typeface="Arial" panose="020B0604020202020204" pitchFamily="34" charset="0"/>
                <a:ea typeface="Arial" panose="020B0604020202020204" pitchFamily="34" charset="-122"/>
                <a:cs typeface="Arial" panose="020B0604020202020204" pitchFamily="34" charset="-120"/>
              </a:rPr>
              <a:t>PERURI  ·  INNOVATION AWARD &amp; KAIZEN AWARD</a:t>
            </a:r>
            <a:endParaRPr lang="en-US" sz="1300" dirty="0">
              <a:solidFill>
                <a:schemeClr val="bg2"/>
              </a:solidFill>
            </a:endParaRPr>
          </a:p>
        </p:txBody>
      </p:sp>
      <p:sp>
        <p:nvSpPr>
          <p:cNvPr id="5" name="Text 3"/>
          <p:cNvSpPr/>
          <p:nvPr/>
        </p:nvSpPr>
        <p:spPr>
          <a:xfrm>
            <a:off x="548640" y="1874520"/>
            <a:ext cx="10058400" cy="822960"/>
          </a:xfrm>
          <a:prstGeom prst="rect">
            <a:avLst/>
          </a:prstGeom>
          <a:noFill/>
        </p:spPr>
        <p:txBody>
          <a:bodyPr wrap="square" lIns="0" tIns="0" rIns="0" bIns="0" rtlCol="0" anchor="ctr"/>
          <a:lstStyle/>
          <a:p>
            <a:pPr marL="0" indent="0">
              <a:buNone/>
            </a:pPr>
            <a:r>
              <a:rPr lang="en-US" sz="4000" b="1" dirty="0">
                <a:solidFill>
                  <a:srgbClr val="FFFFFF"/>
                </a:solidFill>
                <a:latin typeface="Arial" panose="020B0604020202020204" pitchFamily="34" charset="0"/>
                <a:ea typeface="Arial" panose="020B0604020202020204" pitchFamily="34" charset="-122"/>
                <a:cs typeface="Arial" panose="020B0604020202020204" pitchFamily="34" charset="-120"/>
              </a:rPr>
              <a:t>Kerangka Presentasi Peserta</a:t>
            </a:r>
            <a:endParaRPr lang="en-US" sz="4000" dirty="0"/>
          </a:p>
        </p:txBody>
      </p:sp>
      <p:sp>
        <p:nvSpPr>
          <p:cNvPr id="6" name="Text 4"/>
          <p:cNvSpPr/>
          <p:nvPr/>
        </p:nvSpPr>
        <p:spPr>
          <a:xfrm>
            <a:off x="548640" y="2697480"/>
            <a:ext cx="10058400" cy="822960"/>
          </a:xfrm>
          <a:prstGeom prst="rect">
            <a:avLst/>
          </a:prstGeom>
          <a:noFill/>
        </p:spPr>
        <p:txBody>
          <a:bodyPr wrap="square" lIns="0" tIns="0" rIns="0" bIns="0" rtlCol="0" anchor="ctr"/>
          <a:lstStyle/>
          <a:p>
            <a:pPr marL="0" indent="0">
              <a:buNone/>
            </a:pPr>
            <a:r>
              <a:rPr lang="en-US" sz="4400" b="1" dirty="0">
                <a:solidFill>
                  <a:schemeClr val="bg1"/>
                </a:solidFill>
                <a:latin typeface="Arial" panose="020B0604020202020204" pitchFamily="34" charset="0"/>
                <a:ea typeface="Arial" panose="020B0604020202020204" pitchFamily="34" charset="-122"/>
                <a:cs typeface="Arial" panose="020B0604020202020204" pitchFamily="34" charset="-120"/>
              </a:rPr>
              <a:t>IAKA 2026</a:t>
            </a:r>
            <a:endParaRPr lang="en-US" sz="4400" dirty="0">
              <a:solidFill>
                <a:schemeClr val="bg1"/>
              </a:solidFill>
            </a:endParaRPr>
          </a:p>
        </p:txBody>
      </p:sp>
      <p:sp>
        <p:nvSpPr>
          <p:cNvPr id="9" name="Shape 7"/>
          <p:cNvSpPr/>
          <p:nvPr/>
        </p:nvSpPr>
        <p:spPr>
          <a:xfrm>
            <a:off x="548640" y="4892040"/>
            <a:ext cx="3200400" cy="502920"/>
          </a:xfrm>
          <a:prstGeom prst="roundRect">
            <a:avLst>
              <a:gd name="adj" fmla="val 49091"/>
            </a:avLst>
          </a:prstGeom>
          <a:solidFill>
            <a:srgbClr val="6A2CC9"/>
          </a:solidFill>
        </p:spPr>
        <p:txBody>
          <a:bodyPr/>
          <a:p/>
        </p:txBody>
      </p:sp>
      <p:sp>
        <p:nvSpPr>
          <p:cNvPr id="10" name="Text 8"/>
          <p:cNvSpPr/>
          <p:nvPr/>
        </p:nvSpPr>
        <p:spPr>
          <a:xfrm>
            <a:off x="548640" y="4892040"/>
            <a:ext cx="3200400" cy="502920"/>
          </a:xfrm>
          <a:prstGeom prst="rect">
            <a:avLst/>
          </a:prstGeom>
          <a:noFill/>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Arial" panose="020B0604020202020204" pitchFamily="34" charset="-122"/>
                <a:cs typeface="Arial" panose="020B0604020202020204" pitchFamily="34" charset="-120"/>
              </a:rPr>
              <a:t>Divisi SDM · 2026</a:t>
            </a:r>
            <a:endParaRPr lang="en-US" sz="1300" dirty="0"/>
          </a:p>
        </p:txBody>
      </p:sp>
      <p:pic>
        <p:nvPicPr>
          <p:cNvPr id="12" name="Picture 11"/>
          <p:cNvPicPr>
            <a:picLocks noChangeAspect="1"/>
          </p:cNvPicPr>
          <p:nvPr/>
        </p:nvPicPr>
        <p:blipFill>
          <a:blip r:embed="rId1"/>
          <a:stretch>
            <a:fillRect/>
          </a:stretch>
        </p:blipFill>
        <p:spPr>
          <a:xfrm>
            <a:off x="10670874" y="89912"/>
            <a:ext cx="1454649" cy="809702"/>
          </a:xfrm>
          <a:prstGeom prst="rect">
            <a:avLst/>
          </a:prstGeom>
        </p:spPr>
      </p:pic>
      <p:pic>
        <p:nvPicPr>
          <p:cNvPr id="14" name="Picture 13"/>
          <p:cNvPicPr>
            <a:picLocks noChangeAspect="1"/>
          </p:cNvPicPr>
          <p:nvPr/>
        </p:nvPicPr>
        <p:blipFill>
          <a:blip r:embed="rId2"/>
          <a:stretch>
            <a:fillRect/>
          </a:stretch>
        </p:blipFill>
        <p:spPr>
          <a:xfrm>
            <a:off x="-217170" y="-139700"/>
            <a:ext cx="2339340" cy="1559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6300"/>
            <a:ext cx="640080" cy="64008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3" name="Text 1"/>
          <p:cNvSpPr/>
          <p:nvPr/>
        </p:nvSpPr>
        <p:spPr>
          <a:xfrm>
            <a:off x="548640" y="635093"/>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i</a:t>
            </a:r>
            <a:endParaRPr lang="en-US" sz="2200" dirty="0"/>
          </a:p>
        </p:txBody>
      </p:sp>
      <p:sp>
        <p:nvSpPr>
          <p:cNvPr id="4" name="Text 2"/>
          <p:cNvSpPr/>
          <p:nvPr/>
        </p:nvSpPr>
        <p:spPr>
          <a:xfrm>
            <a:off x="1340193" y="600580"/>
            <a:ext cx="8686800" cy="731520"/>
          </a:xfrm>
          <a:prstGeom prst="rect">
            <a:avLst/>
          </a:prstGeom>
          <a:noFill/>
        </p:spPr>
        <p:txBody>
          <a:bodyPr wrap="square" lIns="0" tIns="0" rIns="0" bIns="0" rtlCol="0" anchor="ctr"/>
          <a:lstStyle/>
          <a:p>
            <a:pPr marL="0" indent="0">
              <a:buNone/>
            </a:pPr>
            <a:r>
              <a:rPr lang="en-US" sz="3200" b="1" dirty="0">
                <a:solidFill>
                  <a:srgbClr val="20288F"/>
                </a:solidFill>
                <a:latin typeface="Arial" panose="020B0604020202020204" pitchFamily="34" charset="0"/>
                <a:ea typeface="Arial" panose="020B0604020202020204" pitchFamily="34" charset="-122"/>
                <a:cs typeface="Arial" panose="020B0604020202020204" pitchFamily="34" charset="-120"/>
              </a:rPr>
              <a:t>Alur 8 bagian presentasi</a:t>
            </a:r>
            <a:endParaRPr lang="en-US" sz="3200" dirty="0"/>
          </a:p>
        </p:txBody>
      </p:sp>
      <p:sp>
        <p:nvSpPr>
          <p:cNvPr id="6" name="Shape 4"/>
          <p:cNvSpPr/>
          <p:nvPr/>
        </p:nvSpPr>
        <p:spPr>
          <a:xfrm>
            <a:off x="548640"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7" name="Shape 5"/>
          <p:cNvSpPr/>
          <p:nvPr/>
        </p:nvSpPr>
        <p:spPr>
          <a:xfrm>
            <a:off x="749808" y="2075688"/>
            <a:ext cx="502920" cy="502920"/>
          </a:xfrm>
          <a:prstGeom prst="ellipse">
            <a:avLst/>
          </a:prstGeom>
          <a:solidFill>
            <a:srgbClr val="6A2CC9"/>
          </a:solidFill>
        </p:spPr>
        <p:txBody>
          <a:bodyPr/>
          <a:p/>
        </p:txBody>
      </p:sp>
      <p:sp>
        <p:nvSpPr>
          <p:cNvPr id="8" name="Text 6"/>
          <p:cNvSpPr/>
          <p:nvPr/>
        </p:nvSpPr>
        <p:spPr>
          <a:xfrm>
            <a:off x="749808" y="207568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1500" dirty="0"/>
          </a:p>
        </p:txBody>
      </p:sp>
      <p:sp>
        <p:nvSpPr>
          <p:cNvPr id="9" name="Text 7"/>
          <p:cNvSpPr/>
          <p:nvPr/>
        </p:nvSpPr>
        <p:spPr>
          <a:xfrm>
            <a:off x="731520" y="265176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Latar Belakang</a:t>
            </a:r>
            <a:endParaRPr lang="en-US" sz="1450" dirty="0"/>
          </a:p>
        </p:txBody>
      </p:sp>
      <p:sp>
        <p:nvSpPr>
          <p:cNvPr id="11" name="Shape 9"/>
          <p:cNvSpPr/>
          <p:nvPr/>
        </p:nvSpPr>
        <p:spPr>
          <a:xfrm>
            <a:off x="3386252"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12" name="Shape 10"/>
          <p:cNvSpPr/>
          <p:nvPr/>
        </p:nvSpPr>
        <p:spPr>
          <a:xfrm>
            <a:off x="3587420" y="2075688"/>
            <a:ext cx="502920" cy="502920"/>
          </a:xfrm>
          <a:prstGeom prst="ellipse">
            <a:avLst/>
          </a:prstGeom>
          <a:solidFill>
            <a:srgbClr val="6A2CC9"/>
          </a:solidFill>
        </p:spPr>
        <p:txBody>
          <a:bodyPr/>
          <a:p/>
        </p:txBody>
      </p:sp>
      <p:sp>
        <p:nvSpPr>
          <p:cNvPr id="13" name="Text 11"/>
          <p:cNvSpPr/>
          <p:nvPr/>
        </p:nvSpPr>
        <p:spPr>
          <a:xfrm>
            <a:off x="3587420" y="207568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1500" dirty="0"/>
          </a:p>
        </p:txBody>
      </p:sp>
      <p:sp>
        <p:nvSpPr>
          <p:cNvPr id="14" name="Text 12"/>
          <p:cNvSpPr/>
          <p:nvPr/>
        </p:nvSpPr>
        <p:spPr>
          <a:xfrm>
            <a:off x="3569132" y="265176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Masalah</a:t>
            </a:r>
            <a:endParaRPr lang="en-US" sz="1450" dirty="0"/>
          </a:p>
        </p:txBody>
      </p:sp>
      <p:sp>
        <p:nvSpPr>
          <p:cNvPr id="16" name="Shape 14"/>
          <p:cNvSpPr/>
          <p:nvPr/>
        </p:nvSpPr>
        <p:spPr>
          <a:xfrm>
            <a:off x="6223864"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17" name="Shape 15"/>
          <p:cNvSpPr/>
          <p:nvPr/>
        </p:nvSpPr>
        <p:spPr>
          <a:xfrm>
            <a:off x="6425032" y="2075688"/>
            <a:ext cx="502920" cy="502920"/>
          </a:xfrm>
          <a:prstGeom prst="ellipse">
            <a:avLst/>
          </a:prstGeom>
          <a:solidFill>
            <a:srgbClr val="6A2CC9"/>
          </a:solidFill>
        </p:spPr>
        <p:txBody>
          <a:bodyPr/>
          <a:p/>
        </p:txBody>
      </p:sp>
      <p:sp>
        <p:nvSpPr>
          <p:cNvPr id="18" name="Text 16"/>
          <p:cNvSpPr/>
          <p:nvPr/>
        </p:nvSpPr>
        <p:spPr>
          <a:xfrm>
            <a:off x="6425032" y="207568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1500" dirty="0"/>
          </a:p>
        </p:txBody>
      </p:sp>
      <p:sp>
        <p:nvSpPr>
          <p:cNvPr id="19" name="Text 17"/>
          <p:cNvSpPr/>
          <p:nvPr/>
        </p:nvSpPr>
        <p:spPr>
          <a:xfrm>
            <a:off x="6406744" y="265176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Analisis Penyebab</a:t>
            </a:r>
            <a:endParaRPr lang="en-US" sz="1450" dirty="0"/>
          </a:p>
        </p:txBody>
      </p:sp>
      <p:sp>
        <p:nvSpPr>
          <p:cNvPr id="21" name="Shape 19"/>
          <p:cNvSpPr/>
          <p:nvPr/>
        </p:nvSpPr>
        <p:spPr>
          <a:xfrm>
            <a:off x="9061475" y="187452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22" name="Shape 20"/>
          <p:cNvSpPr/>
          <p:nvPr/>
        </p:nvSpPr>
        <p:spPr>
          <a:xfrm>
            <a:off x="9262643" y="2075688"/>
            <a:ext cx="502920" cy="502920"/>
          </a:xfrm>
          <a:prstGeom prst="ellipse">
            <a:avLst/>
          </a:prstGeom>
          <a:solidFill>
            <a:srgbClr val="6A2CC9"/>
          </a:solidFill>
        </p:spPr>
        <p:txBody>
          <a:bodyPr/>
          <a:p/>
        </p:txBody>
      </p:sp>
      <p:sp>
        <p:nvSpPr>
          <p:cNvPr id="23" name="Text 21"/>
          <p:cNvSpPr/>
          <p:nvPr/>
        </p:nvSpPr>
        <p:spPr>
          <a:xfrm>
            <a:off x="9262643" y="207568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04</a:t>
            </a:r>
            <a:endParaRPr lang="en-US" sz="1500" dirty="0"/>
          </a:p>
        </p:txBody>
      </p:sp>
      <p:sp>
        <p:nvSpPr>
          <p:cNvPr id="24" name="Text 22"/>
          <p:cNvSpPr/>
          <p:nvPr/>
        </p:nvSpPr>
        <p:spPr>
          <a:xfrm>
            <a:off x="9244355" y="265176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Solusi</a:t>
            </a:r>
            <a:endParaRPr lang="en-US" sz="1450" dirty="0"/>
          </a:p>
        </p:txBody>
      </p:sp>
      <p:sp>
        <p:nvSpPr>
          <p:cNvPr id="26" name="Shape 24"/>
          <p:cNvSpPr/>
          <p:nvPr/>
        </p:nvSpPr>
        <p:spPr>
          <a:xfrm>
            <a:off x="548640"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27" name="Shape 25"/>
          <p:cNvSpPr/>
          <p:nvPr/>
        </p:nvSpPr>
        <p:spPr>
          <a:xfrm>
            <a:off x="749808" y="3767328"/>
            <a:ext cx="502920" cy="502920"/>
          </a:xfrm>
          <a:prstGeom prst="ellipse">
            <a:avLst/>
          </a:prstGeom>
          <a:solidFill>
            <a:srgbClr val="6A2CC9"/>
          </a:solidFill>
        </p:spPr>
        <p:txBody>
          <a:bodyPr/>
          <a:p/>
        </p:txBody>
      </p:sp>
      <p:sp>
        <p:nvSpPr>
          <p:cNvPr id="28" name="Text 26"/>
          <p:cNvSpPr/>
          <p:nvPr/>
        </p:nvSpPr>
        <p:spPr>
          <a:xfrm>
            <a:off x="749808" y="376732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05</a:t>
            </a:r>
            <a:endParaRPr lang="en-US" sz="1500" dirty="0"/>
          </a:p>
        </p:txBody>
      </p:sp>
      <p:sp>
        <p:nvSpPr>
          <p:cNvPr id="29" name="Text 27"/>
          <p:cNvSpPr/>
          <p:nvPr/>
        </p:nvSpPr>
        <p:spPr>
          <a:xfrm>
            <a:off x="731520" y="434340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Implementasi</a:t>
            </a:r>
            <a:endParaRPr lang="en-US" sz="1450" dirty="0"/>
          </a:p>
        </p:txBody>
      </p:sp>
      <p:sp>
        <p:nvSpPr>
          <p:cNvPr id="31" name="Shape 29"/>
          <p:cNvSpPr/>
          <p:nvPr/>
        </p:nvSpPr>
        <p:spPr>
          <a:xfrm>
            <a:off x="3386252"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32" name="Shape 30"/>
          <p:cNvSpPr/>
          <p:nvPr/>
        </p:nvSpPr>
        <p:spPr>
          <a:xfrm>
            <a:off x="3587420" y="3767328"/>
            <a:ext cx="502920" cy="502920"/>
          </a:xfrm>
          <a:prstGeom prst="ellipse">
            <a:avLst/>
          </a:prstGeom>
          <a:solidFill>
            <a:srgbClr val="6A2CC9"/>
          </a:solidFill>
        </p:spPr>
        <p:txBody>
          <a:bodyPr/>
          <a:p/>
        </p:txBody>
      </p:sp>
      <p:sp>
        <p:nvSpPr>
          <p:cNvPr id="33" name="Text 31"/>
          <p:cNvSpPr/>
          <p:nvPr/>
        </p:nvSpPr>
        <p:spPr>
          <a:xfrm>
            <a:off x="3587420" y="376732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06</a:t>
            </a:r>
            <a:endParaRPr lang="en-US" sz="1500" dirty="0"/>
          </a:p>
        </p:txBody>
      </p:sp>
      <p:sp>
        <p:nvSpPr>
          <p:cNvPr id="34" name="Text 32"/>
          <p:cNvSpPr/>
          <p:nvPr/>
        </p:nvSpPr>
        <p:spPr>
          <a:xfrm>
            <a:off x="3569132" y="434340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Dampak</a:t>
            </a:r>
            <a:endParaRPr lang="en-US" sz="1450" dirty="0"/>
          </a:p>
        </p:txBody>
      </p:sp>
      <p:sp>
        <p:nvSpPr>
          <p:cNvPr id="36" name="Shape 34"/>
          <p:cNvSpPr/>
          <p:nvPr/>
        </p:nvSpPr>
        <p:spPr>
          <a:xfrm>
            <a:off x="6223864"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37" name="Shape 35"/>
          <p:cNvSpPr/>
          <p:nvPr/>
        </p:nvSpPr>
        <p:spPr>
          <a:xfrm>
            <a:off x="6425032" y="3767328"/>
            <a:ext cx="502920" cy="502920"/>
          </a:xfrm>
          <a:prstGeom prst="ellipse">
            <a:avLst/>
          </a:prstGeom>
          <a:solidFill>
            <a:srgbClr val="6A2CC9"/>
          </a:solidFill>
        </p:spPr>
        <p:txBody>
          <a:bodyPr/>
          <a:p/>
        </p:txBody>
      </p:sp>
      <p:sp>
        <p:nvSpPr>
          <p:cNvPr id="38" name="Text 36"/>
          <p:cNvSpPr/>
          <p:nvPr/>
        </p:nvSpPr>
        <p:spPr>
          <a:xfrm>
            <a:off x="6425032" y="376732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07</a:t>
            </a:r>
            <a:endParaRPr lang="en-US" sz="1500" dirty="0"/>
          </a:p>
        </p:txBody>
      </p:sp>
      <p:sp>
        <p:nvSpPr>
          <p:cNvPr id="39" name="Text 37"/>
          <p:cNvSpPr/>
          <p:nvPr/>
        </p:nvSpPr>
        <p:spPr>
          <a:xfrm>
            <a:off x="6406744" y="434340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Sustainability</a:t>
            </a:r>
            <a:endParaRPr lang="en-US" sz="1450" dirty="0"/>
          </a:p>
        </p:txBody>
      </p:sp>
      <p:sp>
        <p:nvSpPr>
          <p:cNvPr id="41" name="Shape 39"/>
          <p:cNvSpPr/>
          <p:nvPr/>
        </p:nvSpPr>
        <p:spPr>
          <a:xfrm>
            <a:off x="9061475" y="3566160"/>
            <a:ext cx="2581580" cy="1417320"/>
          </a:xfrm>
          <a:prstGeom prst="roundRect">
            <a:avLst>
              <a:gd name="adj" fmla="val 6452"/>
            </a:avLst>
          </a:prstGeom>
          <a:solidFill>
            <a:srgbClr val="F5F1FF"/>
          </a:solidFill>
          <a:ln w="12700">
            <a:solidFill>
              <a:srgbClr val="EFE7FF"/>
            </a:solidFill>
            <a:prstDash val="solid"/>
          </a:ln>
          <a:effectLst>
            <a:outerShdw blurRad="76200" dist="25400" dir="5400000" algn="bl" rotWithShape="0">
              <a:srgbClr val="C9BEE8">
                <a:alpha val="35000"/>
              </a:srgbClr>
            </a:outerShdw>
          </a:effectLst>
        </p:spPr>
        <p:txBody>
          <a:bodyPr/>
          <a:p/>
        </p:txBody>
      </p:sp>
      <p:sp>
        <p:nvSpPr>
          <p:cNvPr id="42" name="Shape 40"/>
          <p:cNvSpPr/>
          <p:nvPr/>
        </p:nvSpPr>
        <p:spPr>
          <a:xfrm>
            <a:off x="9262643" y="3767328"/>
            <a:ext cx="502920" cy="502920"/>
          </a:xfrm>
          <a:prstGeom prst="ellipse">
            <a:avLst/>
          </a:prstGeom>
          <a:solidFill>
            <a:srgbClr val="6A2CC9"/>
          </a:solidFill>
        </p:spPr>
        <p:txBody>
          <a:bodyPr/>
          <a:p/>
        </p:txBody>
      </p:sp>
      <p:sp>
        <p:nvSpPr>
          <p:cNvPr id="43" name="Text 41"/>
          <p:cNvSpPr/>
          <p:nvPr/>
        </p:nvSpPr>
        <p:spPr>
          <a:xfrm>
            <a:off x="9262643" y="3767328"/>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08</a:t>
            </a:r>
            <a:endParaRPr lang="en-US" sz="1500" dirty="0"/>
          </a:p>
        </p:txBody>
      </p:sp>
      <p:sp>
        <p:nvSpPr>
          <p:cNvPr id="44" name="Text 42"/>
          <p:cNvSpPr/>
          <p:nvPr/>
        </p:nvSpPr>
        <p:spPr>
          <a:xfrm>
            <a:off x="9244355" y="4343400"/>
            <a:ext cx="2215820" cy="411480"/>
          </a:xfrm>
          <a:prstGeom prst="rect">
            <a:avLst/>
          </a:prstGeom>
          <a:noFill/>
        </p:spPr>
        <p:txBody>
          <a:bodyPr wrap="square" lIns="0" tIns="0" rIns="0" bIns="0" rtlCol="0" anchor="t"/>
          <a:lstStyle/>
          <a:p>
            <a:pPr marL="0" indent="0">
              <a:buNone/>
            </a:pPr>
            <a:r>
              <a:rPr lang="en-US" sz="1450" b="1" dirty="0">
                <a:solidFill>
                  <a:srgbClr val="20288F"/>
                </a:solidFill>
                <a:latin typeface="Arial" panose="020B0604020202020204" pitchFamily="34" charset="0"/>
                <a:ea typeface="Arial" panose="020B0604020202020204" pitchFamily="34" charset="-122"/>
                <a:cs typeface="Arial" panose="020B0604020202020204" pitchFamily="34" charset="-120"/>
              </a:rPr>
              <a:t>Lesson Learned</a:t>
            </a:r>
            <a:endParaRPr lang="en-US" sz="1450" dirty="0"/>
          </a:p>
        </p:txBody>
      </p:sp>
      <p:pic>
        <p:nvPicPr>
          <p:cNvPr id="49" name="Picture 48"/>
          <p:cNvPicPr>
            <a:picLocks noChangeAspect="1"/>
          </p:cNvPicPr>
          <p:nvPr/>
        </p:nvPicPr>
        <p:blipFill>
          <a:blip r:embed="rId1"/>
          <a:stretch>
            <a:fillRect/>
          </a:stretch>
        </p:blipFill>
        <p:spPr>
          <a:xfrm>
            <a:off x="11056239" y="11533"/>
            <a:ext cx="1140374" cy="634767"/>
          </a:xfrm>
          <a:prstGeom prst="rect">
            <a:avLst/>
          </a:prstGeom>
        </p:spPr>
      </p:pic>
      <p:pic>
        <p:nvPicPr>
          <p:cNvPr id="51" name="Picture 50"/>
          <p:cNvPicPr>
            <a:picLocks noChangeAspect="1"/>
          </p:cNvPicPr>
          <p:nvPr/>
        </p:nvPicPr>
        <p:blipFill>
          <a:blip r:embed="rId2"/>
          <a:stretch>
            <a:fillRect/>
          </a:stretch>
        </p:blipFill>
        <p:spPr>
          <a:xfrm>
            <a:off x="-108068" y="-179554"/>
            <a:ext cx="1448261" cy="8146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3"/>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3"/>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Text 3"/>
          <p:cNvSpPr/>
          <p:nvPr/>
        </p:nvSpPr>
        <p:spPr>
          <a:xfrm>
            <a:off x="1463040" y="640081"/>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Latar Belakang</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Bangun konteks: mengapa topik ini penting untuk ditangani sekarang.</a:t>
            </a:r>
            <a:endParaRPr lang="en-US" sz="1450" dirty="0"/>
          </a:p>
        </p:txBody>
      </p:sp>
      <p:sp>
        <p:nvSpPr>
          <p:cNvPr id="9" name="Shape 7"/>
          <p:cNvSpPr/>
          <p:nvPr/>
        </p:nvSpPr>
        <p:spPr>
          <a:xfrm>
            <a:off x="548640" y="2148840"/>
            <a:ext cx="8899525"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Kondisi Saat Ini</a:t>
            </a:r>
            <a:endParaRPr lang="en-US" sz="1600" dirty="0"/>
          </a:p>
        </p:txBody>
      </p:sp>
      <p:sp>
        <p:nvSpPr>
          <p:cNvPr id="11" name="Text 9"/>
          <p:cNvSpPr/>
          <p:nvPr/>
        </p:nvSpPr>
        <p:spPr>
          <a:xfrm>
            <a:off x="914400" y="2880360"/>
            <a:ext cx="8033385" cy="2697480"/>
          </a:xfrm>
          <a:prstGeom prst="rect">
            <a:avLst/>
          </a:prstGeom>
          <a:noFill/>
        </p:spPr>
        <p:txBody>
          <a:bodyPr wrap="square" lIns="0" tIns="0" rIns="0" bIns="0" rtlCol="0" anchor="t"/>
          <a:lstStyle/>
          <a:p>
            <a:pPr indent="0" algn="l">
              <a:lnSpc>
                <a:spcPct val="105000"/>
              </a:lnSpc>
              <a:spcAft>
                <a:spcPts val="1200"/>
              </a:spcAft>
              <a:buSzPct val="100000"/>
              <a:buNone/>
            </a:pPr>
            <a:r>
              <a:rPr sz="1400" b="0">
                <a:solidFill>
                  <a:srgbClr val="33334D"/>
                </a:solidFill>
                <a:latin typeface="Arial"/>
              </a:rPr>
              <a:t>Proses monitoring KPI masih membutuhkan pegawai untuk menentukan dan menginput nilai realisasi berdasarkan aktivitas dan evidence yang tersedia.
Evidence belum otomatis dipahami sebagai pencapaian. Contohnya, UAT menunjukkan tahap pengujian, sedangkan BA Go Live menunjukkan aplikasi telah mencapai tahap implementasi.
Di sisi strategis, MPTI dan RJPP mengandung informasi penting, tetapi pencarian informasi relevan dan analisis tren masih membutuhkan proses manual.</a:t>
            </a:r>
            <a:endParaRPr lang="en-US" altLang="en-US" sz="145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TextBox 16"/>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Konteks proses existing dan kebutuhan pengembangan sistem | Baseline: sebelum implementasi.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3"/>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3"/>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Text 3"/>
          <p:cNvSpPr/>
          <p:nvPr/>
        </p:nvSpPr>
        <p:spPr>
          <a:xfrm>
            <a:off x="1463040" y="640081"/>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Latar Belakang</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Bangun konteks: mengapa topik ini penting untuk ditangani sekarang.</a:t>
            </a:r>
            <a:endParaRPr lang="en-US" sz="1450" dirty="0"/>
          </a:p>
        </p:txBody>
      </p:sp>
      <p:sp>
        <p:nvSpPr>
          <p:cNvPr id="9" name="Shape 7"/>
          <p:cNvSpPr/>
          <p:nvPr/>
        </p:nvSpPr>
        <p:spPr>
          <a:xfrm>
            <a:off x="548640" y="2148840"/>
            <a:ext cx="1056132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Mengapa Hal Ini Penting</a:t>
            </a:r>
            <a:endParaRPr lang="en-US" sz="1600" dirty="0"/>
          </a:p>
        </p:txBody>
      </p:sp>
      <p:sp>
        <p:nvSpPr>
          <p:cNvPr id="11" name="Text 9"/>
          <p:cNvSpPr/>
          <p:nvPr/>
        </p:nvSpPr>
        <p:spPr>
          <a:xfrm>
            <a:off x="914400" y="2880360"/>
            <a:ext cx="5367655" cy="2697480"/>
          </a:xfrm>
          <a:prstGeom prst="rect">
            <a:avLst/>
          </a:prstGeom>
          <a:noFill/>
        </p:spPr>
        <p:txBody>
          <a:bodyPr wrap="square" lIns="0" tIns="0" rIns="0" bIns="0" rtlCol="0" anchor="t"/>
          <a:lstStyle/>
          <a:p>
            <a:pPr indent="0" algn="l">
              <a:lnSpc>
                <a:spcPct val="105000"/>
              </a:lnSpc>
              <a:spcAft>
                <a:spcPts val="1200"/>
              </a:spcAft>
              <a:buSzPct val="100000"/>
              <a:buNone/>
            </a:pPr>
            <a:r>
              <a:rPr sz="1350" b="0">
                <a:solidFill>
                  <a:srgbClr val="33334D"/>
                </a:solidFill>
                <a:latin typeface="Arial"/>
              </a:rPr>
              <a:t>MONITORING KPI
• Menjaga agar realisasi merepresentasikan kondisi aktual.
• Mengurangi human error dan subjective judgment.
• Mempercepat verifikasi evidence.
• Memperkuat traceability antara realisasi dan dokumen pendukung.</a:t>
            </a:r>
            <a:endParaRPr lang="en-US" altLang="en-US"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2" name="Text 9"/>
          <p:cNvSpPr/>
          <p:nvPr/>
        </p:nvSpPr>
        <p:spPr>
          <a:xfrm>
            <a:off x="6631940" y="2880360"/>
            <a:ext cx="4144010" cy="2697480"/>
          </a:xfrm>
          <a:prstGeom prst="rect">
            <a:avLst/>
          </a:prstGeom>
          <a:noFill/>
        </p:spPr>
        <p:txBody>
          <a:bodyPr wrap="square" lIns="0" tIns="0" rIns="0" bIns="0" rtlCol="0" anchor="t"/>
          <a:lstStyle/>
          <a:p>
            <a:pPr indent="0" algn="l">
              <a:lnSpc>
                <a:spcPct val="105000"/>
              </a:lnSpc>
              <a:spcAft>
                <a:spcPts val="1200"/>
              </a:spcAft>
              <a:buSzPct val="100000"/>
              <a:buNone/>
            </a:pPr>
            <a:r>
              <a:rPr sz="1350" b="0">
                <a:solidFill>
                  <a:srgbClr val="33334D"/>
                </a:solidFill>
                <a:latin typeface="Arial"/>
              </a:rPr>
              <a:t>STRATEGIC INSIGHT
• Memanfaatkan MPTI dan RJPP sebagai sumber informasi.
• Menemukan informasi yang relevan dari dokumen besar.
• Menghubungkan strategi internal dengan tren eksternal.
• Mendukung keputusan yang lebih data-driven.</a:t>
            </a:r>
            <a:endParaRPr lang="en-US" altLang="en-US" dirty="0"/>
          </a:p>
        </p:txBody>
      </p:sp>
      <p:cxnSp>
        <p:nvCxnSpPr>
          <p:cNvPr id="6" name="Straight Connector 5"/>
          <p:cNvCxnSpPr/>
          <p:nvPr/>
        </p:nvCxnSpPr>
        <p:spPr>
          <a:xfrm flipH="1">
            <a:off x="6348730" y="2681605"/>
            <a:ext cx="20320" cy="3002915"/>
          </a:xfrm>
          <a:prstGeom prst="line">
            <a:avLst/>
          </a:prstGeom>
        </p:spPr>
        <p:style>
          <a:lnRef idx="2">
            <a:schemeClr val="accent1"/>
          </a:lnRef>
          <a:fillRef idx="0">
            <a:srgbClr val="FFFFFF"/>
          </a:fillRef>
          <a:effectRef idx="0">
            <a:srgbClr val="FFFFFF"/>
          </a:effectRef>
          <a:fontRef idx="minor">
            <a:schemeClr val="tx1"/>
          </a:fontRef>
        </p:style>
      </p:cxnSp>
      <p:sp>
        <p:nvSpPr>
          <p:cNvPr id="17" name="TextBox 16"/>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Dampak yang dituju: akurasi, efisiensi, objektivitas, auditability, dan kualitas pengambilan keputusan.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3"/>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3"/>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01</a:t>
            </a:r>
            <a:endParaRPr lang="en-US" sz="2200" dirty="0"/>
          </a:p>
        </p:txBody>
      </p:sp>
      <p:sp>
        <p:nvSpPr>
          <p:cNvPr id="5" name="Text 3"/>
          <p:cNvSpPr/>
          <p:nvPr/>
        </p:nvSpPr>
        <p:spPr>
          <a:xfrm>
            <a:off x="1463040" y="640081"/>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Latar Belakang</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Bangun konteks: mengapa topik ini penting untuk ditangani sekarang.</a:t>
            </a:r>
            <a:endParaRPr lang="en-US" sz="1450" dirty="0"/>
          </a:p>
        </p:txBody>
      </p:sp>
      <p:sp>
        <p:nvSpPr>
          <p:cNvPr id="9" name="Shape 7"/>
          <p:cNvSpPr/>
          <p:nvPr/>
        </p:nvSpPr>
        <p:spPr>
          <a:xfrm>
            <a:off x="548640" y="2148840"/>
            <a:ext cx="1056132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Data Awal / Baseline Proses</a:t>
            </a:r>
            <a:endParaRPr lang="en-US" altLang="en-US" sz="1600" b="1" dirty="0">
              <a:solidFill>
                <a:srgbClr val="6A2CC9"/>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cxnSp>
        <p:nvCxnSpPr>
          <p:cNvPr id="6" name="Straight Connector 5"/>
          <p:cNvCxnSpPr/>
          <p:nvPr/>
        </p:nvCxnSpPr>
        <p:spPr>
          <a:xfrm flipH="1">
            <a:off x="6348730" y="2681605"/>
            <a:ext cx="20320" cy="3002915"/>
          </a:xfrm>
          <a:prstGeom prst="line">
            <a:avLst/>
          </a:prstGeom>
        </p:spPr>
        <p:style>
          <a:lnRef idx="2">
            <a:schemeClr val="accent1"/>
          </a:lnRef>
          <a:fillRef idx="0">
            <a:srgbClr val="FFFFFF"/>
          </a:fillRef>
          <a:effectRef idx="0">
            <a:srgbClr val="FFFFFF"/>
          </a:effectRef>
          <a:fontRef idx="minor">
            <a:schemeClr val="tx1"/>
          </a:fontRef>
        </p:style>
      </p:cxnSp>
      <p:sp>
        <p:nvSpPr>
          <p:cNvPr id="17" name="Rounded Rectangle 16"/>
          <p:cNvSpPr/>
          <p:nvPr/>
        </p:nvSpPr>
        <p:spPr>
          <a:xfrm>
            <a:off x="914400" y="2788920"/>
            <a:ext cx="3246120" cy="196596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3100" b="1">
                <a:solidFill>
                  <a:srgbClr val="20288F"/>
                </a:solidFill>
                <a:latin typeface="Arial"/>
              </a:rPr>
              <a:t>100%</a:t>
            </a:r>
          </a:p>
          <a:p>
            <a:pPr algn="ctr">
              <a:spcBef>
                <a:spcPts val="800"/>
              </a:spcBef>
            </a:pPr>
            <a:r>
              <a:rPr sz="1250">
                <a:solidFill>
                  <a:srgbClr val="33334D"/>
                </a:solidFill>
                <a:latin typeface="Arial"/>
              </a:rPr>
              <a:t>realisasi pada scope proses existing masih ditentukan melalui input manual</a:t>
            </a:r>
          </a:p>
        </p:txBody>
      </p:sp>
      <p:sp>
        <p:nvSpPr>
          <p:cNvPr id="18" name="Rounded Rectangle 17"/>
          <p:cNvSpPr/>
          <p:nvPr/>
        </p:nvSpPr>
        <p:spPr>
          <a:xfrm>
            <a:off x="4572000" y="2788920"/>
            <a:ext cx="3246120" cy="196596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3100" b="1">
                <a:solidFill>
                  <a:srgbClr val="6A2CC9"/>
                </a:solidFill>
                <a:latin typeface="Arial"/>
              </a:rPr>
              <a:t>0</a:t>
            </a:r>
          </a:p>
          <a:p>
            <a:pPr algn="ctr">
              <a:spcBef>
                <a:spcPts val="800"/>
              </a:spcBef>
            </a:pPr>
            <a:r>
              <a:rPr sz="1250">
                <a:solidFill>
                  <a:srgbClr val="33334D"/>
                </a:solidFill>
                <a:latin typeface="Arial"/>
              </a:rPr>
              <a:t>mekanisme otomatis yang memvalidasi evidence sebagai pencapaian KPI</a:t>
            </a:r>
          </a:p>
        </p:txBody>
      </p:sp>
      <p:sp>
        <p:nvSpPr>
          <p:cNvPr id="19" name="Rounded Rectangle 18"/>
          <p:cNvSpPr/>
          <p:nvPr/>
        </p:nvSpPr>
        <p:spPr>
          <a:xfrm>
            <a:off x="8229600" y="2788920"/>
            <a:ext cx="3246120" cy="196596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3100" b="1">
                <a:solidFill>
                  <a:srgbClr val="1F6FC1"/>
                </a:solidFill>
                <a:latin typeface="Arial"/>
              </a:rPr>
              <a:t>2</a:t>
            </a:r>
          </a:p>
          <a:p>
            <a:pPr algn="ctr">
              <a:spcBef>
                <a:spcPts val="800"/>
              </a:spcBef>
            </a:pPr>
            <a:r>
              <a:rPr sz="1250">
                <a:solidFill>
                  <a:srgbClr val="33334D"/>
                </a:solidFill>
                <a:latin typeface="Arial"/>
              </a:rPr>
              <a:t>jenis dokumen strategis utama pada fitur insight: MPTI dan RJPP</a:t>
            </a:r>
          </a:p>
        </p:txBody>
      </p:sp>
      <p:sp>
        <p:nvSpPr>
          <p:cNvPr id="20" name="TextBox 19"/>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Sumber: proses existing sebelum implementasi dan ruang lingkup dokumen strategis pada sistem. Periode baseline: sebelum implementasi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6"/>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6"/>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Text 3"/>
          <p:cNvSpPr/>
          <p:nvPr/>
        </p:nvSpPr>
        <p:spPr>
          <a:xfrm>
            <a:off x="1463040" y="623455"/>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Masalah</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Nyatakan masalah operasional nyata dan terukur — bukan keluhan umum.</a:t>
            </a:r>
            <a:endParaRPr lang="en-US" sz="1450" dirty="0"/>
          </a:p>
        </p:txBody>
      </p:sp>
      <p:sp>
        <p:nvSpPr>
          <p:cNvPr id="9" name="Shape 7"/>
          <p:cNvSpPr/>
          <p:nvPr/>
        </p:nvSpPr>
        <p:spPr>
          <a:xfrm>
            <a:off x="548640" y="2148840"/>
            <a:ext cx="977392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252345"/>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Apa yang Terjadi?</a:t>
            </a:r>
            <a:endParaRPr lang="en-US" sz="1600" dirty="0"/>
          </a:p>
        </p:txBody>
      </p:sp>
      <p:sp>
        <p:nvSpPr>
          <p:cNvPr id="11" name="Text 9"/>
          <p:cNvSpPr/>
          <p:nvPr/>
        </p:nvSpPr>
        <p:spPr>
          <a:xfrm>
            <a:off x="914400" y="2746375"/>
            <a:ext cx="8044180" cy="2831465"/>
          </a:xfrm>
          <a:prstGeom prst="rect">
            <a:avLst/>
          </a:prstGeom>
          <a:noFill/>
        </p:spPr>
        <p:txBody>
          <a:bodyPr wrap="square" lIns="0" tIns="0" rIns="0" bIns="0" rtlCol="0" anchor="t"/>
          <a:lstStyle/>
          <a:p>
            <a:pPr indent="0" algn="l">
              <a:lnSpc>
                <a:spcPct val="105000"/>
              </a:lnSpc>
              <a:spcAft>
                <a:spcPts val="1200"/>
              </a:spcAft>
              <a:buSzPct val="100000"/>
              <a:buNone/>
            </a:pPr>
            <a:r>
              <a:rPr sz="1320" b="0">
                <a:solidFill>
                  <a:srgbClr val="33334D"/>
                </a:solidFill>
                <a:latin typeface="Arial"/>
              </a:rPr>
              <a:t>Pada proses monitoring dan penilaian realisasi KPI di unit/proses terkait, penentuan realisasi masih dilakukan secara manual pada kondisi existing sebelum implementasi sistem (2026).
PIHAK TERDAMPAK
• KPI Owner / pegawai: menentukan dan menginput realisasi.
• Admin / Performance Management: memeriksa dan memvalidasi evidence.
• Manajemen: menggunakan hasil realisasi untuk monitoring dan pengambilan keputusan.
Masalah utama muncul ketika dokumen evidence perlu diinterpretasikan untuk menentukan apakah target benar-benar telah tercapai.</a:t>
            </a:r>
            <a:endParaRPr lang="en-US" altLang="en-US"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TextBox 16"/>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Periode: kondisi existing sebelum implementasi sistem, 2026 | Sumber: proses monitoring KPI.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6"/>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6"/>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Text 3"/>
          <p:cNvSpPr/>
          <p:nvPr/>
        </p:nvSpPr>
        <p:spPr>
          <a:xfrm>
            <a:off x="1463040" y="623455"/>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Masalah</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Nyatakan masalah operasional nyata dan terukur — bukan keluhan umum.</a:t>
            </a:r>
            <a:endParaRPr lang="en-US" sz="1450" dirty="0"/>
          </a:p>
        </p:txBody>
      </p:sp>
      <p:sp>
        <p:nvSpPr>
          <p:cNvPr id="9" name="Shape 7"/>
          <p:cNvSpPr/>
          <p:nvPr/>
        </p:nvSpPr>
        <p:spPr>
          <a:xfrm>
            <a:off x="548640" y="2148840"/>
            <a:ext cx="977392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252345"/>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Baseline Permasalahan</a:t>
            </a:r>
            <a:endParaRPr lang="en-US" altLang="en-US" sz="1600" b="1" dirty="0">
              <a:solidFill>
                <a:srgbClr val="6A2CC9"/>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graphicFrame>
        <p:nvGraphicFramePr>
          <p:cNvPr id="6" name="Table 5"/>
          <p:cNvGraphicFramePr/>
          <p:nvPr/>
        </p:nvGraphicFramePr>
        <p:xfrm>
          <a:off x="853440" y="2842260"/>
          <a:ext cx="7071360" cy="2698115"/>
        </p:xfrm>
        <a:graphic>
          <a:graphicData uri="http://schemas.openxmlformats.org/drawingml/2006/table">
            <a:tbl>
              <a:tblPr/>
              <a:tblGrid>
                <a:gridCol w="3535680"/>
                <a:gridCol w="3535680"/>
              </a:tblGrid>
              <a:tr h="385445">
                <a:tc>
                  <a:txBody>
                    <a:bodyPr/>
                    <a:p>
                      <a:r>
                        <a:rPr lang="en-US" altLang="zh-CN" sz="1800"/>
                        <a:t>Indikator</a:t>
                      </a:r>
                      <a:endParaRPr lang="en-US" altLang="zh-CN" sz="1800"/>
                    </a:p>
                  </a:txBody>
                  <a:tcPr marL="0" marR="0" marT="0" marB="0" anchor="ctr" anchorCtr="0">
                    <a:lnL>
                      <a:noFill/>
                    </a:lnL>
                    <a:lnR>
                      <a:noFill/>
                    </a:lnR>
                    <a:lnT>
                      <a:noFill/>
                    </a:lnT>
                    <a:lnB>
                      <a:noFill/>
                    </a:lnB>
                    <a:noFill/>
                  </a:tcPr>
                </a:tc>
                <a:tc>
                  <a:txBody>
                    <a:bodyPr/>
                    <a:p>
                      <a:pPr algn="r"/>
                      <a:r>
                        <a:rPr lang="en-US" altLang="zh-CN" sz="1800"/>
                        <a:t>Kondisi Awal</a:t>
                      </a:r>
                      <a:endParaRPr lang="en-US" altLang="zh-CN" sz="1800"/>
                    </a:p>
                  </a:txBody>
                  <a:tcPr marL="0" marR="0" marT="0" marB="0" anchor="ctr" anchorCtr="0">
                    <a:lnL>
                      <a:noFill/>
                    </a:lnL>
                    <a:lnR>
                      <a:noFill/>
                    </a:lnR>
                    <a:lnT>
                      <a:noFill/>
                    </a:lnT>
                    <a:lnB>
                      <a:noFill/>
                    </a:lnB>
                    <a:noFill/>
                  </a:tcPr>
                </a:tc>
              </a:tr>
              <a:tr h="385445">
                <a:tc>
                  <a:txBody>
                    <a:bodyPr/>
                    <a:p>
                      <a:r>
                        <a:rPr lang="en-US" altLang="zh-CN" sz="1800"/>
                        <a:t>Jumlah Measurement/KPI</a:t>
                      </a:r>
                      <a:endParaRPr lang="en-US" altLang="zh-CN" sz="1800"/>
                    </a:p>
                  </a:txBody>
                  <a:tcPr marL="0" marR="0" marT="0" marB="0" anchor="ctr" anchorCtr="0">
                    <a:lnL>
                      <a:noFill/>
                    </a:lnL>
                    <a:lnR>
                      <a:noFill/>
                    </a:lnR>
                    <a:lnT>
                      <a:noFill/>
                    </a:lnT>
                    <a:lnB>
                      <a:noFill/>
                    </a:lnB>
                    <a:noFill/>
                  </a:tcPr>
                </a:tc>
                <a:tc>
                  <a:txBody>
                    <a:bodyPr/>
                    <a:p>
                      <a:pPr algn="r"/>
                      <a:r>
                        <a:rPr lang="en-US" altLang="zh-CN" sz="1800"/>
                        <a:t>[XX]</a:t>
                      </a:r>
                      <a:endParaRPr lang="en-US" altLang="zh-CN" sz="1800"/>
                    </a:p>
                  </a:txBody>
                  <a:tcPr marL="0" marR="0" marT="0" marB="0" anchor="ctr" anchorCtr="0">
                    <a:lnL>
                      <a:noFill/>
                    </a:lnL>
                    <a:lnR>
                      <a:noFill/>
                    </a:lnR>
                    <a:lnT>
                      <a:noFill/>
                    </a:lnT>
                    <a:lnB>
                      <a:noFill/>
                    </a:lnB>
                    <a:noFill/>
                  </a:tcPr>
                </a:tc>
              </a:tr>
              <a:tr h="385445">
                <a:tc>
                  <a:txBody>
                    <a:bodyPr/>
                    <a:p>
                      <a:r>
                        <a:rPr lang="en-US" altLang="zh-CN" sz="1800"/>
                        <a:t>Jumlah Evidence</a:t>
                      </a:r>
                      <a:endParaRPr lang="en-US" altLang="zh-CN" sz="1800"/>
                    </a:p>
                  </a:txBody>
                  <a:tcPr marL="0" marR="0" marT="0" marB="0" anchor="ctr" anchorCtr="0">
                    <a:lnL>
                      <a:noFill/>
                    </a:lnL>
                    <a:lnR>
                      <a:noFill/>
                    </a:lnR>
                    <a:lnT>
                      <a:noFill/>
                    </a:lnT>
                    <a:lnB>
                      <a:noFill/>
                    </a:lnB>
                    <a:noFill/>
                  </a:tcPr>
                </a:tc>
                <a:tc>
                  <a:txBody>
                    <a:bodyPr/>
                    <a:p>
                      <a:pPr algn="r"/>
                      <a:r>
                        <a:rPr lang="en-US" altLang="zh-CN" sz="1800"/>
                        <a:t>[XX] dokumen</a:t>
                      </a:r>
                      <a:endParaRPr lang="en-US" altLang="zh-CN" sz="1800"/>
                    </a:p>
                  </a:txBody>
                  <a:tcPr marL="0" marR="0" marT="0" marB="0" anchor="ctr" anchorCtr="0">
                    <a:lnL>
                      <a:noFill/>
                    </a:lnL>
                    <a:lnR>
                      <a:noFill/>
                    </a:lnR>
                    <a:lnT>
                      <a:noFill/>
                    </a:lnT>
                    <a:lnB>
                      <a:noFill/>
                    </a:lnB>
                    <a:noFill/>
                  </a:tcPr>
                </a:tc>
              </a:tr>
              <a:tr h="385445">
                <a:tc>
                  <a:txBody>
                    <a:bodyPr/>
                    <a:p>
                      <a:r>
                        <a:rPr lang="en-US" altLang="zh-CN" sz="1800"/>
                        <a:t>Evidence yang memerlukan verifikasi</a:t>
                      </a:r>
                      <a:endParaRPr lang="en-US" altLang="zh-CN" sz="1800"/>
                    </a:p>
                  </a:txBody>
                  <a:tcPr marL="0" marR="0" marT="0" marB="0" anchor="ctr" anchorCtr="0">
                    <a:lnL>
                      <a:noFill/>
                    </a:lnL>
                    <a:lnR>
                      <a:noFill/>
                    </a:lnR>
                    <a:lnT>
                      <a:noFill/>
                    </a:lnT>
                    <a:lnB>
                      <a:noFill/>
                    </a:lnB>
                    <a:noFill/>
                  </a:tcPr>
                </a:tc>
                <a:tc>
                  <a:txBody>
                    <a:bodyPr/>
                    <a:p>
                      <a:pPr algn="r"/>
                      <a:r>
                        <a:rPr lang="en-US" altLang="zh-CN" sz="1800"/>
                        <a:t>[XX] dokumen / [XX]%</a:t>
                      </a:r>
                      <a:endParaRPr lang="en-US" altLang="zh-CN" sz="1800"/>
                    </a:p>
                  </a:txBody>
                  <a:tcPr marL="0" marR="0" marT="0" marB="0" anchor="ctr" anchorCtr="0">
                    <a:lnL>
                      <a:noFill/>
                    </a:lnL>
                    <a:lnR>
                      <a:noFill/>
                    </a:lnR>
                    <a:lnT>
                      <a:noFill/>
                    </a:lnT>
                    <a:lnB>
                      <a:noFill/>
                    </a:lnB>
                    <a:noFill/>
                  </a:tcPr>
                </a:tc>
              </a:tr>
              <a:tr h="385445">
                <a:tc>
                  <a:txBody>
                    <a:bodyPr/>
                    <a:p>
                      <a:r>
                        <a:rPr lang="en-US" altLang="zh-CN" sz="1800"/>
                        <a:t>Nilai realisasi yang diinput manual</a:t>
                      </a:r>
                      <a:endParaRPr lang="en-US" altLang="zh-CN" sz="1800"/>
                    </a:p>
                  </a:txBody>
                  <a:tcPr marL="0" marR="0" marT="0" marB="0" anchor="ctr" anchorCtr="0">
                    <a:lnL>
                      <a:noFill/>
                    </a:lnL>
                    <a:lnR>
                      <a:noFill/>
                    </a:lnR>
                    <a:lnT>
                      <a:noFill/>
                    </a:lnT>
                    <a:lnB>
                      <a:noFill/>
                    </a:lnB>
                    <a:noFill/>
                  </a:tcPr>
                </a:tc>
                <a:tc>
                  <a:txBody>
                    <a:bodyPr/>
                    <a:p>
                      <a:pPr algn="r"/>
                      <a:r>
                        <a:rPr lang="en-US" altLang="zh-CN" sz="1800"/>
                        <a:t>[XX] KPI / [XX]%</a:t>
                      </a:r>
                      <a:endParaRPr lang="en-US" altLang="zh-CN" sz="1800"/>
                    </a:p>
                  </a:txBody>
                  <a:tcPr marL="0" marR="0" marT="0" marB="0" anchor="ctr" anchorCtr="0">
                    <a:lnL>
                      <a:noFill/>
                    </a:lnL>
                    <a:lnR>
                      <a:noFill/>
                    </a:lnR>
                    <a:lnT>
                      <a:noFill/>
                    </a:lnT>
                    <a:lnB>
                      <a:noFill/>
                    </a:lnB>
                    <a:noFill/>
                  </a:tcPr>
                </a:tc>
              </a:tr>
              <a:tr h="385445">
                <a:tc>
                  <a:txBody>
                    <a:bodyPr/>
                    <a:p>
                      <a:r>
                        <a:rPr lang="en-US" altLang="zh-CN" sz="1800"/>
                        <a:t>Rata-rata waktu verifikasi</a:t>
                      </a:r>
                      <a:endParaRPr lang="en-US" altLang="zh-CN" sz="1800"/>
                    </a:p>
                  </a:txBody>
                  <a:tcPr marL="0" marR="0" marT="0" marB="0" anchor="ctr" anchorCtr="0">
                    <a:lnL>
                      <a:noFill/>
                    </a:lnL>
                    <a:lnR>
                      <a:noFill/>
                    </a:lnR>
                    <a:lnT>
                      <a:noFill/>
                    </a:lnT>
                    <a:lnB>
                      <a:noFill/>
                    </a:lnB>
                    <a:noFill/>
                  </a:tcPr>
                </a:tc>
                <a:tc>
                  <a:txBody>
                    <a:bodyPr/>
                    <a:p>
                      <a:pPr algn="r"/>
                      <a:r>
                        <a:rPr lang="en-US" altLang="zh-CN" sz="1800"/>
                        <a:t>[XX] menit/evidence</a:t>
                      </a:r>
                      <a:endParaRPr lang="en-US" altLang="zh-CN" sz="1800"/>
                    </a:p>
                  </a:txBody>
                  <a:tcPr marL="0" marR="0" marT="0" marB="0" anchor="ctr" anchorCtr="0">
                    <a:lnL>
                      <a:noFill/>
                    </a:lnL>
                    <a:lnR>
                      <a:noFill/>
                    </a:lnR>
                    <a:lnT>
                      <a:noFill/>
                    </a:lnT>
                    <a:lnB>
                      <a:noFill/>
                    </a:lnB>
                    <a:noFill/>
                  </a:tcPr>
                </a:tc>
              </a:tr>
              <a:tr h="385445">
                <a:tc>
                  <a:txBody>
                    <a:bodyPr/>
                    <a:p>
                      <a:r>
                        <a:rPr lang="en-US" altLang="zh-CN" sz="1800"/>
                        <a:t>Koreksi/perubahan nilai realisasi</a:t>
                      </a:r>
                      <a:endParaRPr lang="en-US" altLang="zh-CN" sz="1800"/>
                    </a:p>
                  </a:txBody>
                  <a:tcPr marL="0" marR="0" marT="0" marB="0" anchor="ctr" anchorCtr="0">
                    <a:lnL>
                      <a:noFill/>
                    </a:lnL>
                    <a:lnR>
                      <a:noFill/>
                    </a:lnR>
                    <a:lnT>
                      <a:noFill/>
                    </a:lnT>
                    <a:lnB>
                      <a:noFill/>
                    </a:lnB>
                    <a:noFill/>
                  </a:tcPr>
                </a:tc>
                <a:tc>
                  <a:txBody>
                    <a:bodyPr/>
                    <a:p>
                      <a:pPr algn="r"/>
                      <a:r>
                        <a:rPr lang="en-US" altLang="zh-CN" sz="1800"/>
                        <a:t>[XX] kasus / [XX]%</a:t>
                      </a:r>
                      <a:endParaRPr lang="en-US" altLang="zh-CN" sz="1800"/>
                    </a:p>
                  </a:txBody>
                  <a:tcPr marL="0" marR="0" marT="0" marB="0" anchor="ctr" anchorCtr="0">
                    <a:lnL>
                      <a:noFill/>
                    </a:lnL>
                    <a:lnR>
                      <a:noFill/>
                    </a:lnR>
                    <a:lnT>
                      <a:noFill/>
                    </a:lnT>
                    <a:lnB>
                      <a:noFill/>
                    </a:lnB>
                    <a:noFill/>
                  </a:tcPr>
                </a:tc>
              </a:tr>
            </a:tbl>
          </a:graphicData>
        </a:graphic>
      </p:graphicFrame>
      <p:graphicFrame>
        <p:nvGraphicFramePr>
          <p:cNvPr id="17" name="Table 16"/>
          <p:cNvGraphicFramePr>
            <a:graphicFrameLocks noGrp="1"/>
          </p:cNvGraphicFramePr>
          <p:nvPr/>
        </p:nvGraphicFramePr>
        <p:xfrm>
          <a:off x="914400" y="2743200"/>
          <a:ext cx="10149840" cy="2606040"/>
        </p:xfrm>
        <a:graphic>
          <a:graphicData uri="http://schemas.openxmlformats.org/drawingml/2006/table">
            <a:tbl>
              <a:tblPr firstRow="1" bandRow="1">
                <a:tableStyleId>{5C22544A-7EE6-4342-B048-85BDC9FD1C3A}</a:tableStyleId>
              </a:tblPr>
              <a:tblGrid>
                <a:gridCol w="3108960"/>
                <a:gridCol w="2011680"/>
                <a:gridCol w="5029200"/>
              </a:tblGrid>
              <a:tr h="521208">
                <a:tc>
                  <a:txBody>
                    <a:bodyPr/>
                    <a:lstStyle/>
                    <a:p>
                      <a:pPr algn="ctr"/>
                      <a:r>
                        <a:rPr sz="1200" b="1">
                          <a:solidFill>
                            <a:srgbClr val="FFFFFF"/>
                          </a:solidFill>
                          <a:latin typeface="Arial"/>
                        </a:rPr>
                        <a:t>Indikator</a:t>
                      </a:r>
                    </a:p>
                  </a:txBody>
                  <a:tcPr>
                    <a:solidFill>
                      <a:srgbClr val="20288F"/>
                    </a:solidFill>
                  </a:tcPr>
                </a:tc>
                <a:tc>
                  <a:txBody>
                    <a:bodyPr/>
                    <a:lstStyle/>
                    <a:p>
                      <a:pPr algn="ctr"/>
                      <a:r>
                        <a:rPr sz="1200" b="1">
                          <a:solidFill>
                            <a:srgbClr val="FFFFFF"/>
                          </a:solidFill>
                          <a:latin typeface="Arial"/>
                        </a:rPr>
                        <a:t>Kondisi Awal</a:t>
                      </a:r>
                    </a:p>
                  </a:txBody>
                  <a:tcPr>
                    <a:solidFill>
                      <a:srgbClr val="20288F"/>
                    </a:solidFill>
                  </a:tcPr>
                </a:tc>
                <a:tc>
                  <a:txBody>
                    <a:bodyPr/>
                    <a:lstStyle/>
                    <a:p>
                      <a:pPr algn="ctr"/>
                      <a:r>
                        <a:rPr sz="1200" b="1">
                          <a:solidFill>
                            <a:srgbClr val="FFFFFF"/>
                          </a:solidFill>
                          <a:latin typeface="Arial"/>
                        </a:rPr>
                        <a:t>Makna / Bukti</a:t>
                      </a:r>
                    </a:p>
                  </a:txBody>
                  <a:tcPr>
                    <a:solidFill>
                      <a:srgbClr val="20288F"/>
                    </a:solidFill>
                  </a:tcPr>
                </a:tc>
              </a:tr>
              <a:tr h="521208">
                <a:tc>
                  <a:txBody>
                    <a:bodyPr/>
                    <a:lstStyle/>
                    <a:p>
                      <a:pPr algn="l"/>
                      <a:r>
                        <a:rPr sz="1050">
                          <a:solidFill>
                            <a:srgbClr val="33334D"/>
                          </a:solidFill>
                          <a:latin typeface="Arial"/>
                        </a:rPr>
                        <a:t>Penentuan realisasi</a:t>
                      </a:r>
                    </a:p>
                  </a:txBody>
                  <a:tcPr>
                    <a:solidFill>
                      <a:srgbClr val="FFFFFF"/>
                    </a:solidFill>
                  </a:tcPr>
                </a:tc>
                <a:tc>
                  <a:txBody>
                    <a:bodyPr/>
                    <a:lstStyle/>
                    <a:p>
                      <a:pPr algn="ctr"/>
                      <a:r>
                        <a:rPr sz="1050">
                          <a:solidFill>
                            <a:srgbClr val="33334D"/>
                          </a:solidFill>
                          <a:latin typeface="Arial"/>
                        </a:rPr>
                        <a:t>100% manual</a:t>
                      </a:r>
                    </a:p>
                  </a:txBody>
                  <a:tcPr>
                    <a:solidFill>
                      <a:srgbClr val="FFFFFF"/>
                    </a:solidFill>
                  </a:tcPr>
                </a:tc>
                <a:tc>
                  <a:txBody>
                    <a:bodyPr/>
                    <a:lstStyle/>
                    <a:p>
                      <a:pPr algn="l"/>
                      <a:r>
                        <a:rPr sz="1050">
                          <a:solidFill>
                            <a:srgbClr val="33334D"/>
                          </a:solidFill>
                          <a:latin typeface="Arial"/>
                        </a:rPr>
                        <a:t>Nilai ditentukan melalui input pegawai pada proses existing.</a:t>
                      </a:r>
                    </a:p>
                  </a:txBody>
                  <a:tcPr>
                    <a:solidFill>
                      <a:srgbClr val="FFFFFF"/>
                    </a:solidFill>
                  </a:tcPr>
                </a:tc>
              </a:tr>
              <a:tr h="521208">
                <a:tc>
                  <a:txBody>
                    <a:bodyPr/>
                    <a:lstStyle/>
                    <a:p>
                      <a:pPr algn="l"/>
                      <a:r>
                        <a:rPr sz="1050">
                          <a:solidFill>
                            <a:srgbClr val="33334D"/>
                          </a:solidFill>
                          <a:latin typeface="Arial"/>
                        </a:rPr>
                        <a:t>Validasi evidence</a:t>
                      </a:r>
                    </a:p>
                  </a:txBody>
                  <a:tcPr>
                    <a:solidFill>
                      <a:srgbClr val="F6F7FC"/>
                    </a:solidFill>
                  </a:tcPr>
                </a:tc>
                <a:tc>
                  <a:txBody>
                    <a:bodyPr/>
                    <a:lstStyle/>
                    <a:p>
                      <a:pPr algn="ctr"/>
                      <a:r>
                        <a:rPr sz="1050">
                          <a:solidFill>
                            <a:srgbClr val="33334D"/>
                          </a:solidFill>
                          <a:latin typeface="Arial"/>
                        </a:rPr>
                        <a:t>Manual</a:t>
                      </a:r>
                    </a:p>
                  </a:txBody>
                  <a:tcPr>
                    <a:solidFill>
                      <a:srgbClr val="F6F7FC"/>
                    </a:solidFill>
                  </a:tcPr>
                </a:tc>
                <a:tc>
                  <a:txBody>
                    <a:bodyPr/>
                    <a:lstStyle/>
                    <a:p>
                      <a:pPr algn="l"/>
                      <a:r>
                        <a:rPr sz="1050">
                          <a:solidFill>
                            <a:srgbClr val="33334D"/>
                          </a:solidFill>
                          <a:latin typeface="Arial"/>
                        </a:rPr>
                        <a:t>Evidence perlu diperiksa untuk memahami status pencapaian.</a:t>
                      </a:r>
                    </a:p>
                  </a:txBody>
                  <a:tcPr>
                    <a:solidFill>
                      <a:srgbClr val="F6F7FC"/>
                    </a:solidFill>
                  </a:tcPr>
                </a:tc>
              </a:tr>
              <a:tr h="521208">
                <a:tc>
                  <a:txBody>
                    <a:bodyPr/>
                    <a:lstStyle/>
                    <a:p>
                      <a:pPr algn="l"/>
                      <a:r>
                        <a:rPr sz="1050">
                          <a:solidFill>
                            <a:srgbClr val="33334D"/>
                          </a:solidFill>
                          <a:latin typeface="Arial"/>
                        </a:rPr>
                        <a:t>Automated evidence validation</a:t>
                      </a:r>
                    </a:p>
                  </a:txBody>
                  <a:tcPr>
                    <a:solidFill>
                      <a:srgbClr val="FFFFFF"/>
                    </a:solidFill>
                  </a:tcPr>
                </a:tc>
                <a:tc>
                  <a:txBody>
                    <a:bodyPr/>
                    <a:lstStyle/>
                    <a:p>
                      <a:pPr algn="ctr"/>
                      <a:r>
                        <a:rPr sz="1050">
                          <a:solidFill>
                            <a:srgbClr val="33334D"/>
                          </a:solidFill>
                          <a:latin typeface="Arial"/>
                        </a:rPr>
                        <a:t>0</a:t>
                      </a:r>
                    </a:p>
                  </a:txBody>
                  <a:tcPr>
                    <a:solidFill>
                      <a:srgbClr val="FFFFFF"/>
                    </a:solidFill>
                  </a:tcPr>
                </a:tc>
                <a:tc>
                  <a:txBody>
                    <a:bodyPr/>
                    <a:lstStyle/>
                    <a:p>
                      <a:pPr algn="l"/>
                      <a:r>
                        <a:rPr sz="1050">
                          <a:solidFill>
                            <a:srgbClr val="33334D"/>
                          </a:solidFill>
                          <a:latin typeface="Arial"/>
                        </a:rPr>
                        <a:t>Belum ada mekanisme AI yang menghubungkan evidence dengan target KPI.</a:t>
                      </a:r>
                    </a:p>
                  </a:txBody>
                  <a:tcPr>
                    <a:solidFill>
                      <a:srgbClr val="FFFFFF"/>
                    </a:solidFill>
                  </a:tcPr>
                </a:tc>
              </a:tr>
              <a:tr h="521208">
                <a:tc>
                  <a:txBody>
                    <a:bodyPr/>
                    <a:lstStyle/>
                    <a:p>
                      <a:pPr algn="l"/>
                      <a:r>
                        <a:rPr sz="1050">
                          <a:solidFill>
                            <a:srgbClr val="33334D"/>
                          </a:solidFill>
                          <a:latin typeface="Arial"/>
                        </a:rPr>
                        <a:t>Dokumen strategis</a:t>
                      </a:r>
                    </a:p>
                  </a:txBody>
                  <a:tcPr>
                    <a:solidFill>
                      <a:srgbClr val="F6F7FC"/>
                    </a:solidFill>
                  </a:tcPr>
                </a:tc>
                <a:tc>
                  <a:txBody>
                    <a:bodyPr/>
                    <a:lstStyle/>
                    <a:p>
                      <a:pPr algn="ctr"/>
                      <a:r>
                        <a:rPr sz="1050">
                          <a:solidFill>
                            <a:srgbClr val="33334D"/>
                          </a:solidFill>
                          <a:latin typeface="Arial"/>
                        </a:rPr>
                        <a:t>2 jenis</a:t>
                      </a:r>
                    </a:p>
                  </a:txBody>
                  <a:tcPr>
                    <a:solidFill>
                      <a:srgbClr val="F6F7FC"/>
                    </a:solidFill>
                  </a:tcPr>
                </a:tc>
                <a:tc>
                  <a:txBody>
                    <a:bodyPr/>
                    <a:lstStyle/>
                    <a:p>
                      <a:pPr algn="l"/>
                      <a:r>
                        <a:rPr sz="1050">
                          <a:solidFill>
                            <a:srgbClr val="33334D"/>
                          </a:solidFill>
                          <a:latin typeface="Arial"/>
                        </a:rPr>
                        <a:t>MPTI dan RJPP menjadi sumber informasi untuk fitur Strategic Insight.</a:t>
                      </a:r>
                    </a:p>
                  </a:txBody>
                  <a:tcPr>
                    <a:solidFill>
                      <a:srgbClr val="F6F7FC"/>
                    </a:solidFill>
                  </a:tcPr>
                </a:tc>
              </a:tr>
            </a:tbl>
          </a:graphicData>
        </a:graphic>
      </p:graphicFrame>
      <p:sp>
        <p:nvSpPr>
          <p:cNvPr id="18" name="TextBox 17"/>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Sumber: proses existing sebelum implementasi dan ruang lingkup sistem | Angka baseline dibatasi pada data yang tersedia dalam proyek.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35926"/>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35926"/>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2200" dirty="0"/>
          </a:p>
        </p:txBody>
      </p:sp>
      <p:sp>
        <p:nvSpPr>
          <p:cNvPr id="5" name="Text 3"/>
          <p:cNvSpPr/>
          <p:nvPr/>
        </p:nvSpPr>
        <p:spPr>
          <a:xfrm>
            <a:off x="1463040" y="623455"/>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Masalah</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Nyatakan masalah operasional nyata dan terukur — bukan keluhan umum.</a:t>
            </a:r>
            <a:endParaRPr lang="en-US" sz="1450" dirty="0"/>
          </a:p>
        </p:txBody>
      </p:sp>
      <p:sp>
        <p:nvSpPr>
          <p:cNvPr id="9" name="Shape 7"/>
          <p:cNvSpPr/>
          <p:nvPr/>
        </p:nvSpPr>
        <p:spPr>
          <a:xfrm>
            <a:off x="548640" y="1952625"/>
            <a:ext cx="11351260" cy="445643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016125"/>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Apa Dampak Bila Dibiarkan?</a:t>
            </a:r>
            <a:endParaRPr lang="en-US" sz="1600" dirty="0"/>
          </a:p>
        </p:txBody>
      </p:sp>
      <p:sp>
        <p:nvSpPr>
          <p:cNvPr id="11" name="Text 9"/>
          <p:cNvSpPr/>
          <p:nvPr/>
        </p:nvSpPr>
        <p:spPr>
          <a:xfrm>
            <a:off x="914400" y="2427605"/>
            <a:ext cx="5269865" cy="3779520"/>
          </a:xfrm>
          <a:prstGeom prst="rect">
            <a:avLst/>
          </a:prstGeom>
          <a:noFill/>
        </p:spPr>
        <p:txBody>
          <a:bodyPr wrap="square" lIns="0" tIns="0" rIns="0" bIns="0" rtlCol="0" anchor="t"/>
          <a:lstStyle/>
          <a:p>
            <a:pPr marL="342900" indent="-342900" algn="l">
              <a:lnSpc>
                <a:spcPct val="95000"/>
              </a:lnSpc>
              <a:spcAft>
                <a:spcPts val="1200"/>
              </a:spcAft>
              <a:buSzPct val="100000"/>
              <a:buAutoNum type="arabicPeriod"/>
            </a:pPr>
            <a:r>
              <a:rPr sz="1350" b="0">
                <a:solidFill>
                  <a:srgbClr val="33334D"/>
                </a:solidFill>
                <a:latin typeface="Arial"/>
              </a:rPr>
              <a:t>AKURASI
Nilai realisasi berpotensi tidak sesuai dengan kondisi aktual dan evidence.
EFISIENSI
Waktu pegawai dan admin terserap untuk input serta verifikasi manual.
OBJEKTIVITAS
Interpretasi evidence dapat berbeda antar pihak sehingga memunculkan subjective judgment.</a:t>
            </a:r>
            <a:endParaRPr lang="en-US" alt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2" name="Text 9"/>
          <p:cNvSpPr/>
          <p:nvPr/>
        </p:nvSpPr>
        <p:spPr>
          <a:xfrm>
            <a:off x="6419215" y="3030855"/>
            <a:ext cx="5001260" cy="3150235"/>
          </a:xfrm>
          <a:prstGeom prst="rect">
            <a:avLst/>
          </a:prstGeom>
          <a:noFill/>
        </p:spPr>
        <p:txBody>
          <a:bodyPr wrap="square" lIns="0" tIns="0" rIns="0" bIns="0" rtlCol="0" anchor="t"/>
          <a:lstStyle/>
          <a:p>
            <a:pPr marL="342900" indent="-342900" algn="l">
              <a:lnSpc>
                <a:spcPct val="105000"/>
              </a:lnSpc>
              <a:spcAft>
                <a:spcPts val="1200"/>
              </a:spcAft>
              <a:buSzPct val="100000"/>
              <a:buFont typeface="+mj-lt"/>
              <a:buAutoNum type="arabicPeriod" startAt="3"/>
            </a:pPr>
            <a:r>
              <a:rPr sz="1350" b="0">
                <a:solidFill>
                  <a:srgbClr val="33334D"/>
                </a:solidFill>
                <a:latin typeface="Arial"/>
              </a:rPr>
              <a:t>PENGAMBILAN KEPUTUSAN
Data KPI yang kurang akurat dapat memengaruhi evaluasi dan keputusan manajemen.
AUDITABILITY
Hubungan antara nilai realisasi dan evidence pendukung lebih sulit ditelusuri.
STRATEGIC INSIGHT
Potensi informasi MPTI/RJPP belum optimal dimanfaatkan untuk melihat tren dan peluang.</a:t>
            </a:r>
            <a:endParaRPr lang="en-US" altLang="en-US" sz="1600" dirty="0"/>
          </a:p>
        </p:txBody>
      </p:sp>
      <p:cxnSp>
        <p:nvCxnSpPr>
          <p:cNvPr id="6" name="Straight Connector 5"/>
          <p:cNvCxnSpPr/>
          <p:nvPr/>
        </p:nvCxnSpPr>
        <p:spPr>
          <a:xfrm>
            <a:off x="6276340" y="2681605"/>
            <a:ext cx="0" cy="3525520"/>
          </a:xfrm>
          <a:prstGeom prst="line">
            <a:avLst/>
          </a:prstGeom>
        </p:spPr>
        <p:style>
          <a:lnRef idx="2">
            <a:schemeClr val="accent1"/>
          </a:lnRef>
          <a:fillRef idx="0">
            <a:srgbClr val="FFFFFF"/>
          </a:fillRef>
          <a:effectRef idx="0">
            <a:srgbClr val="FFFFFF"/>
          </a:effectRef>
          <a:fontRef idx="minor">
            <a:schemeClr val="tx1"/>
          </a:fontRef>
        </p:style>
      </p:cxnSp>
      <p:sp>
        <p:nvSpPr>
          <p:cNvPr id="17" name="TextBox 16"/>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Dampak dirumuskan dari gap proses existing: manual input, manual verification, dan analisis dokumen strategis.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69173"/>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69173"/>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2200" dirty="0"/>
          </a:p>
        </p:txBody>
      </p:sp>
      <p:sp>
        <p:nvSpPr>
          <p:cNvPr id="5" name="Text 3"/>
          <p:cNvSpPr/>
          <p:nvPr/>
        </p:nvSpPr>
        <p:spPr>
          <a:xfrm>
            <a:off x="1463040" y="683721"/>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Analisis Penyebab</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Tunjukkan akar masalah, bukan sekadar gejalanya.</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Analisis Penyebab — Fishbone</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pic>
        <p:nvPicPr>
          <p:cNvPr id="17" name="Picture 16" descr="a_clean_infographic_fishbone_ishikawa_style_diag.png"/>
          <p:cNvPicPr>
            <a:picLocks noChangeAspect="1"/>
          </p:cNvPicPr>
          <p:nvPr/>
        </p:nvPicPr>
        <p:blipFill>
          <a:blip r:embed="rId5"/>
          <a:stretch>
            <a:fillRect/>
          </a:stretch>
        </p:blipFill>
        <p:spPr>
          <a:xfrm>
            <a:off x="822960" y="2057400"/>
            <a:ext cx="10561320" cy="3703320"/>
          </a:xfrm>
          <a:prstGeom prst="rect">
            <a:avLst/>
          </a:prstGeom>
        </p:spPr>
      </p:pic>
      <p:sp>
        <p:nvSpPr>
          <p:cNvPr id="18" name="TextBox 17"/>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Metode: Fishbone | Akar masalah: belum ada mekanisme otomatis yang menghubungkan evidence dengan Measurement, Target, dan aturan pencapaian KPI.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60861"/>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60861"/>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04</a:t>
            </a:r>
            <a:endParaRPr lang="en-US" sz="2200" dirty="0"/>
          </a:p>
        </p:txBody>
      </p:sp>
      <p:sp>
        <p:nvSpPr>
          <p:cNvPr id="5" name="Text 3"/>
          <p:cNvSpPr/>
          <p:nvPr/>
        </p:nvSpPr>
        <p:spPr>
          <a:xfrm>
            <a:off x="1463040" y="615144"/>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Solusi</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Jelaskan solusi yang logis dan cukup sederhana untuk diuji skala kecil.</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Solusi</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Rounded Rectangle 16"/>
          <p:cNvSpPr/>
          <p:nvPr/>
        </p:nvSpPr>
        <p:spPr>
          <a:xfrm>
            <a:off x="868680" y="2331720"/>
            <a:ext cx="3154680" cy="457200"/>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500" b="1">
                <a:solidFill>
                  <a:srgbClr val="FFFFFF"/>
                </a:solidFill>
                <a:latin typeface="Arial"/>
              </a:rPr>
              <a:t>SEBELUM</a:t>
            </a:r>
          </a:p>
        </p:txBody>
      </p:sp>
      <p:sp>
        <p:nvSpPr>
          <p:cNvPr id="18" name="Rounded Rectangle 17"/>
          <p:cNvSpPr/>
          <p:nvPr/>
        </p:nvSpPr>
        <p:spPr>
          <a:xfrm>
            <a:off x="4526280" y="2331720"/>
            <a:ext cx="3154680" cy="457200"/>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500" b="1">
                <a:solidFill>
                  <a:srgbClr val="FFFFFF"/>
                </a:solidFill>
                <a:latin typeface="Arial"/>
              </a:rPr>
              <a:t>SETELAH</a:t>
            </a:r>
          </a:p>
        </p:txBody>
      </p:sp>
      <p:sp>
        <p:nvSpPr>
          <p:cNvPr id="19" name="Rounded Rectangle 18"/>
          <p:cNvSpPr/>
          <p:nvPr/>
        </p:nvSpPr>
        <p:spPr>
          <a:xfrm>
            <a:off x="8183879" y="2331720"/>
            <a:ext cx="3154680" cy="457200"/>
          </a:xfrm>
          <a:prstGeom prst="roundRect">
            <a:avLst/>
          </a:prstGeom>
          <a:solidFill>
            <a:srgbClr val="1F6FC1"/>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500" b="1">
                <a:solidFill>
                  <a:srgbClr val="FFFFFF"/>
                </a:solidFill>
                <a:latin typeface="Arial"/>
              </a:rPr>
              <a:t>NILAI TAMBAH</a:t>
            </a:r>
          </a:p>
        </p:txBody>
      </p:sp>
      <p:sp>
        <p:nvSpPr>
          <p:cNvPr id="20" name="Rounded Rectangle 19"/>
          <p:cNvSpPr/>
          <p:nvPr/>
        </p:nvSpPr>
        <p:spPr>
          <a:xfrm>
            <a:off x="868680" y="2880360"/>
            <a:ext cx="3154680" cy="22402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300" b="0">
                <a:solidFill>
                  <a:srgbClr val="33334D"/>
                </a:solidFill>
                <a:latin typeface="Arial"/>
              </a:rPr>
              <a:t>Pegawai input realisasi
Evidence menjadi lampiran
Verifikasi dilakukan manual</a:t>
            </a:r>
          </a:p>
        </p:txBody>
      </p:sp>
      <p:sp>
        <p:nvSpPr>
          <p:cNvPr id="21" name="Rounded Rectangle 20"/>
          <p:cNvSpPr/>
          <p:nvPr/>
        </p:nvSpPr>
        <p:spPr>
          <a:xfrm>
            <a:off x="4526280" y="2880360"/>
            <a:ext cx="3154680" cy="22402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220" b="0">
                <a:solidFill>
                  <a:srgbClr val="33334D"/>
                </a:solidFill>
                <a:latin typeface="Arial"/>
              </a:rPr>
              <a:t>Upload evidence
↓
Document extraction
↓
Gemini analysis
↓
Valid achievement / not yet
↓
Realisasi KPI</a:t>
            </a:r>
          </a:p>
        </p:txBody>
      </p:sp>
      <p:sp>
        <p:nvSpPr>
          <p:cNvPr id="22" name="Rounded Rectangle 21"/>
          <p:cNvSpPr/>
          <p:nvPr/>
        </p:nvSpPr>
        <p:spPr>
          <a:xfrm>
            <a:off x="8183879" y="2880360"/>
            <a:ext cx="3154680" cy="22402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240" b="0">
                <a:solidFill>
                  <a:srgbClr val="33334D"/>
                </a:solidFill>
                <a:latin typeface="Arial"/>
              </a:rPr>
              <a:t>Evidence-based realization
Traceability
AI insight &amp; recommendation
Strategic document analysis</a:t>
            </a:r>
          </a:p>
        </p:txBody>
      </p:sp>
      <p:sp>
        <p:nvSpPr>
          <p:cNvPr id="23" name="TextBox 22"/>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Konsep: AI membaca konteks evidence; sistem menggunakan hasil analisis untuk menentukan pencapaian dan realisasi sesuai Measurement/Target.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6"/>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10986"/>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05</a:t>
            </a:r>
            <a:endParaRPr lang="en-US" sz="2200" dirty="0"/>
          </a:p>
        </p:txBody>
      </p:sp>
      <p:sp>
        <p:nvSpPr>
          <p:cNvPr id="5" name="Text 3"/>
          <p:cNvSpPr/>
          <p:nvPr/>
        </p:nvSpPr>
        <p:spPr>
          <a:xfrm>
            <a:off x="1463040" y="556954"/>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Implementasi</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Buktikan solusi benar-benar dijalankan dan hasilnya terukur (uji coba/MVP).</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Implementasi</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Rounded Rectangle 16"/>
          <p:cNvSpPr/>
          <p:nvPr/>
        </p:nvSpPr>
        <p:spPr>
          <a:xfrm>
            <a:off x="777240" y="2331720"/>
            <a:ext cx="192024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01</a:t>
            </a:r>
          </a:p>
        </p:txBody>
      </p:sp>
      <p:sp>
        <p:nvSpPr>
          <p:cNvPr id="18" name="Rectangle 17"/>
          <p:cNvSpPr/>
          <p:nvPr/>
        </p:nvSpPr>
        <p:spPr>
          <a:xfrm>
            <a:off x="777240" y="2788920"/>
            <a:ext cx="19202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20" b="1">
                <a:solidFill>
                  <a:srgbClr val="6A2CC9"/>
                </a:solidFill>
                <a:latin typeface="Arial"/>
              </a:rPr>
              <a:t>KPI &amp; TARGET</a:t>
            </a:r>
          </a:p>
        </p:txBody>
      </p:sp>
      <p:sp>
        <p:nvSpPr>
          <p:cNvPr id="19" name="Rounded Rectangle 18"/>
          <p:cNvSpPr/>
          <p:nvPr/>
        </p:nvSpPr>
        <p:spPr>
          <a:xfrm>
            <a:off x="777240" y="3337560"/>
            <a:ext cx="1920240" cy="160020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030" b="0">
                <a:solidFill>
                  <a:srgbClr val="33334D"/>
                </a:solidFill>
                <a:latin typeface="Arial"/>
              </a:rPr>
              <a:t>Measurement, target, periode/quarter</a:t>
            </a:r>
          </a:p>
        </p:txBody>
      </p:sp>
      <p:sp>
        <p:nvSpPr>
          <p:cNvPr id="20" name="Rounded Rectangle 19"/>
          <p:cNvSpPr/>
          <p:nvPr/>
        </p:nvSpPr>
        <p:spPr>
          <a:xfrm>
            <a:off x="3017520" y="2331720"/>
            <a:ext cx="192024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02</a:t>
            </a:r>
          </a:p>
        </p:txBody>
      </p:sp>
      <p:sp>
        <p:nvSpPr>
          <p:cNvPr id="21" name="Rectangle 20"/>
          <p:cNvSpPr/>
          <p:nvPr/>
        </p:nvSpPr>
        <p:spPr>
          <a:xfrm>
            <a:off x="3017520" y="2788920"/>
            <a:ext cx="19202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20" b="1">
                <a:solidFill>
                  <a:srgbClr val="6A2CC9"/>
                </a:solidFill>
                <a:latin typeface="Arial"/>
              </a:rPr>
              <a:t>UPLOAD EVIDENCE</a:t>
            </a:r>
          </a:p>
        </p:txBody>
      </p:sp>
      <p:sp>
        <p:nvSpPr>
          <p:cNvPr id="22" name="Rounded Rectangle 21"/>
          <p:cNvSpPr/>
          <p:nvPr/>
        </p:nvSpPr>
        <p:spPr>
          <a:xfrm>
            <a:off x="3017520" y="3337560"/>
            <a:ext cx="1920240" cy="160020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030" b="0">
                <a:solidFill>
                  <a:srgbClr val="33334D"/>
                </a:solidFill>
                <a:latin typeface="Arial"/>
              </a:rPr>
              <a:t>User mengunggah dokumen pendukung</a:t>
            </a:r>
          </a:p>
        </p:txBody>
      </p:sp>
      <p:sp>
        <p:nvSpPr>
          <p:cNvPr id="23" name="Rounded Rectangle 22"/>
          <p:cNvSpPr/>
          <p:nvPr/>
        </p:nvSpPr>
        <p:spPr>
          <a:xfrm>
            <a:off x="5257800" y="2331720"/>
            <a:ext cx="192024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03</a:t>
            </a:r>
          </a:p>
        </p:txBody>
      </p:sp>
      <p:sp>
        <p:nvSpPr>
          <p:cNvPr id="24" name="Rectangle 23"/>
          <p:cNvSpPr/>
          <p:nvPr/>
        </p:nvSpPr>
        <p:spPr>
          <a:xfrm>
            <a:off x="5257800" y="2788920"/>
            <a:ext cx="19202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20" b="1">
                <a:solidFill>
                  <a:srgbClr val="6A2CC9"/>
                </a:solidFill>
                <a:latin typeface="Arial"/>
              </a:rPr>
              <a:t>ANALISIS DOKUMEN</a:t>
            </a:r>
          </a:p>
        </p:txBody>
      </p:sp>
      <p:sp>
        <p:nvSpPr>
          <p:cNvPr id="25" name="Rounded Rectangle 24"/>
          <p:cNvSpPr/>
          <p:nvPr/>
        </p:nvSpPr>
        <p:spPr>
          <a:xfrm>
            <a:off x="5257800" y="3337560"/>
            <a:ext cx="1920240" cy="160020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030" b="0">
                <a:solidFill>
                  <a:srgbClr val="33334D"/>
                </a:solidFill>
                <a:latin typeface="Arial"/>
              </a:rPr>
              <a:t>Extraction + pemahaman konteks oleh Gemini</a:t>
            </a:r>
          </a:p>
        </p:txBody>
      </p:sp>
      <p:sp>
        <p:nvSpPr>
          <p:cNvPr id="26" name="Rounded Rectangle 25"/>
          <p:cNvSpPr/>
          <p:nvPr/>
        </p:nvSpPr>
        <p:spPr>
          <a:xfrm>
            <a:off x="7498080" y="2331720"/>
            <a:ext cx="192024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04</a:t>
            </a:r>
          </a:p>
        </p:txBody>
      </p:sp>
      <p:sp>
        <p:nvSpPr>
          <p:cNvPr id="27" name="Rectangle 26"/>
          <p:cNvSpPr/>
          <p:nvPr/>
        </p:nvSpPr>
        <p:spPr>
          <a:xfrm>
            <a:off x="7498080" y="2788920"/>
            <a:ext cx="19202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20" b="1">
                <a:solidFill>
                  <a:srgbClr val="6A2CC9"/>
                </a:solidFill>
                <a:latin typeface="Arial"/>
              </a:rPr>
              <a:t>VALIDASI</a:t>
            </a:r>
          </a:p>
        </p:txBody>
      </p:sp>
      <p:sp>
        <p:nvSpPr>
          <p:cNvPr id="28" name="Rounded Rectangle 27"/>
          <p:cNvSpPr/>
          <p:nvPr/>
        </p:nvSpPr>
        <p:spPr>
          <a:xfrm>
            <a:off x="7498080" y="3337560"/>
            <a:ext cx="1920240" cy="160020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030" b="0">
                <a:solidFill>
                  <a:srgbClr val="33334D"/>
                </a:solidFill>
                <a:latin typeface="Arial"/>
              </a:rPr>
              <a:t>Evidence dikategorikan: pencapaian / belum</a:t>
            </a:r>
          </a:p>
        </p:txBody>
      </p:sp>
      <p:sp>
        <p:nvSpPr>
          <p:cNvPr id="29" name="Rounded Rectangle 28"/>
          <p:cNvSpPr/>
          <p:nvPr/>
        </p:nvSpPr>
        <p:spPr>
          <a:xfrm>
            <a:off x="9738360" y="2331720"/>
            <a:ext cx="192024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05</a:t>
            </a:r>
          </a:p>
        </p:txBody>
      </p:sp>
      <p:sp>
        <p:nvSpPr>
          <p:cNvPr id="30" name="Rectangle 29"/>
          <p:cNvSpPr/>
          <p:nvPr/>
        </p:nvSpPr>
        <p:spPr>
          <a:xfrm>
            <a:off x="9738360" y="2788920"/>
            <a:ext cx="19202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20" b="1">
                <a:solidFill>
                  <a:srgbClr val="6A2CC9"/>
                </a:solidFill>
                <a:latin typeface="Arial"/>
              </a:rPr>
              <a:t>REPORT</a:t>
            </a:r>
          </a:p>
        </p:txBody>
      </p:sp>
      <p:sp>
        <p:nvSpPr>
          <p:cNvPr id="31" name="Rounded Rectangle 30"/>
          <p:cNvSpPr/>
          <p:nvPr/>
        </p:nvSpPr>
        <p:spPr>
          <a:xfrm>
            <a:off x="9738360" y="3337560"/>
            <a:ext cx="1920240" cy="160020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ctr"/>
            <a:r>
              <a:rPr sz="1030" b="0">
                <a:solidFill>
                  <a:srgbClr val="33334D"/>
                </a:solidFill>
                <a:latin typeface="Arial"/>
              </a:rPr>
              <a:t>Realisasi, hasil baca dokumen, insight &amp; recommendation</a:t>
            </a:r>
          </a:p>
        </p:txBody>
      </p:sp>
      <p:sp>
        <p:nvSpPr>
          <p:cNvPr id="32" name="Rectangle 31"/>
          <p:cNvSpPr/>
          <p:nvPr/>
        </p:nvSpPr>
        <p:spPr>
          <a:xfrm>
            <a:off x="914400" y="5257800"/>
            <a:ext cx="10149840" cy="5669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50" b="1">
                <a:solidFill>
                  <a:srgbClr val="20288F"/>
                </a:solidFill>
                <a:latin typeface="Arial"/>
              </a:rPr>
              <a:t>Lingkup implementasi: sistem KPI berbasis evidence + fitur Strategic Insight untuk dokumen MPTI/RJPP.</a:t>
            </a:r>
          </a:p>
        </p:txBody>
      </p:sp>
      <p:sp>
        <p:nvSpPr>
          <p:cNvPr id="33" name="TextBox 32"/>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Status: sistem telah diimplementasikan dan digunakan sebagai alur pengolahan evidence serta analisis dokumen strategis.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9299"/>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19299"/>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06</a:t>
            </a:r>
            <a:endParaRPr lang="en-US" sz="2200" dirty="0"/>
          </a:p>
        </p:txBody>
      </p:sp>
      <p:sp>
        <p:nvSpPr>
          <p:cNvPr id="5" name="Text 3"/>
          <p:cNvSpPr/>
          <p:nvPr/>
        </p:nvSpPr>
        <p:spPr>
          <a:xfrm>
            <a:off x="1463040" y="606829"/>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Dampak</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Sajikan dampak yang sudah tervalidasi — finansial dan non-finansial.</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Dampak</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Rounded Rectangle 16"/>
          <p:cNvSpPr/>
          <p:nvPr/>
        </p:nvSpPr>
        <p:spPr>
          <a:xfrm>
            <a:off x="914400" y="2331720"/>
            <a:ext cx="4983480" cy="38404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350" b="1">
                <a:solidFill>
                  <a:srgbClr val="FFFFFF"/>
                </a:solidFill>
                <a:latin typeface="Arial"/>
              </a:rPr>
              <a:t>AKURASI</a:t>
            </a:r>
          </a:p>
        </p:txBody>
      </p:sp>
      <p:sp>
        <p:nvSpPr>
          <p:cNvPr id="18" name="Rounded Rectangle 17"/>
          <p:cNvSpPr/>
          <p:nvPr/>
        </p:nvSpPr>
        <p:spPr>
          <a:xfrm>
            <a:off x="914400" y="2770632"/>
            <a:ext cx="498348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50" b="0">
                <a:solidFill>
                  <a:srgbClr val="33334D"/>
                </a:solidFill>
                <a:latin typeface="Arial"/>
              </a:rPr>
              <a:t>Realisasi memiliki dasar evidence yang dianalisis, bukan sekadar input angka.</a:t>
            </a:r>
          </a:p>
        </p:txBody>
      </p:sp>
      <p:sp>
        <p:nvSpPr>
          <p:cNvPr id="19" name="Rounded Rectangle 18"/>
          <p:cNvSpPr/>
          <p:nvPr/>
        </p:nvSpPr>
        <p:spPr>
          <a:xfrm>
            <a:off x="6400800" y="2331720"/>
            <a:ext cx="4983480" cy="384048"/>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350" b="1">
                <a:solidFill>
                  <a:srgbClr val="FFFFFF"/>
                </a:solidFill>
                <a:latin typeface="Arial"/>
              </a:rPr>
              <a:t>EFISIENSI</a:t>
            </a:r>
          </a:p>
        </p:txBody>
      </p:sp>
      <p:sp>
        <p:nvSpPr>
          <p:cNvPr id="20" name="Rounded Rectangle 19"/>
          <p:cNvSpPr/>
          <p:nvPr/>
        </p:nvSpPr>
        <p:spPr>
          <a:xfrm>
            <a:off x="6400800" y="2770632"/>
            <a:ext cx="498348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50" b="0">
                <a:solidFill>
                  <a:srgbClr val="33334D"/>
                </a:solidFill>
                <a:latin typeface="Arial"/>
              </a:rPr>
              <a:t>Mengurangi langkah manual pada pembacaan dan verifikasi evidence.</a:t>
            </a:r>
          </a:p>
        </p:txBody>
      </p:sp>
      <p:sp>
        <p:nvSpPr>
          <p:cNvPr id="21" name="Rounded Rectangle 20"/>
          <p:cNvSpPr/>
          <p:nvPr/>
        </p:nvSpPr>
        <p:spPr>
          <a:xfrm>
            <a:off x="914400" y="3840479"/>
            <a:ext cx="4983480" cy="384048"/>
          </a:xfrm>
          <a:prstGeom prst="roundRect">
            <a:avLst/>
          </a:prstGeom>
          <a:solidFill>
            <a:srgbClr val="1F6FC1"/>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350" b="1">
                <a:solidFill>
                  <a:srgbClr val="FFFFFF"/>
                </a:solidFill>
                <a:latin typeface="Arial"/>
              </a:rPr>
              <a:t>TRANSPARANSI</a:t>
            </a:r>
          </a:p>
        </p:txBody>
      </p:sp>
      <p:sp>
        <p:nvSpPr>
          <p:cNvPr id="22" name="Rounded Rectangle 21"/>
          <p:cNvSpPr/>
          <p:nvPr/>
        </p:nvSpPr>
        <p:spPr>
          <a:xfrm>
            <a:off x="914400" y="4279392"/>
            <a:ext cx="498348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50" b="0">
                <a:solidFill>
                  <a:srgbClr val="33334D"/>
                </a:solidFill>
                <a:latin typeface="Arial"/>
              </a:rPr>
              <a:t>Hubungan Measurement → Evidence → Analisis → Realisasi lebih mudah ditelusuri.</a:t>
            </a:r>
          </a:p>
        </p:txBody>
      </p:sp>
      <p:sp>
        <p:nvSpPr>
          <p:cNvPr id="23" name="Rounded Rectangle 22"/>
          <p:cNvSpPr/>
          <p:nvPr/>
        </p:nvSpPr>
        <p:spPr>
          <a:xfrm>
            <a:off x="6400800" y="3840479"/>
            <a:ext cx="4983480" cy="384048"/>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350" b="1">
                <a:solidFill>
                  <a:srgbClr val="FFFFFF"/>
                </a:solidFill>
                <a:latin typeface="Arial"/>
              </a:rPr>
              <a:t>DECISION SUPPORT</a:t>
            </a:r>
          </a:p>
        </p:txBody>
      </p:sp>
      <p:sp>
        <p:nvSpPr>
          <p:cNvPr id="24" name="Rounded Rectangle 23"/>
          <p:cNvSpPr/>
          <p:nvPr/>
        </p:nvSpPr>
        <p:spPr>
          <a:xfrm>
            <a:off x="6400800" y="4279392"/>
            <a:ext cx="498348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50" b="0">
                <a:solidFill>
                  <a:srgbClr val="33334D"/>
                </a:solidFill>
                <a:latin typeface="Arial"/>
              </a:rPr>
              <a:t>Report AI dan Strategic Insight memberi konteks tambahan untuk monitoring dan keputusan.</a:t>
            </a:r>
          </a:p>
        </p:txBody>
      </p:sp>
      <p:sp>
        <p:nvSpPr>
          <p:cNvPr id="25" name="Rectangle 24"/>
          <p:cNvSpPr/>
          <p:nvPr/>
        </p:nvSpPr>
        <p:spPr>
          <a:xfrm>
            <a:off x="914400" y="5440680"/>
            <a:ext cx="101498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050" b="0">
                <a:solidFill>
                  <a:srgbClr val="6B6B80"/>
                </a:solidFill>
                <a:latin typeface="Arial"/>
              </a:rPr>
              <a:t>Dampak finansial belum diklaim karena baseline biaya/penghematan belum tersedia dalam data proyek yang diberikan.</a:t>
            </a:r>
          </a:p>
        </p:txBody>
      </p:sp>
      <p:sp>
        <p:nvSpPr>
          <p:cNvPr id="26" name="TextBox 25"/>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Dampak yang disampaikan difokuskan pada perubahan proses dan manfaat operasional yang didukung oleh mekanisme sistem.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27610"/>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27610"/>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07</a:t>
            </a:r>
            <a:endParaRPr lang="en-US" sz="2200" dirty="0"/>
          </a:p>
        </p:txBody>
      </p:sp>
      <p:sp>
        <p:nvSpPr>
          <p:cNvPr id="5" name="Text 3"/>
          <p:cNvSpPr/>
          <p:nvPr/>
        </p:nvSpPr>
        <p:spPr>
          <a:xfrm>
            <a:off x="1463040" y="590203"/>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Sustainability</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Kunci cara kerja baru agar tidak bergantung pada ingatan atau satu orang.</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Sustainability</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Rounded Rectangle 16"/>
          <p:cNvSpPr/>
          <p:nvPr/>
        </p:nvSpPr>
        <p:spPr>
          <a:xfrm>
            <a:off x="868680" y="2331720"/>
            <a:ext cx="566928" cy="56692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01</a:t>
            </a:r>
          </a:p>
        </p:txBody>
      </p:sp>
      <p:sp>
        <p:nvSpPr>
          <p:cNvPr id="18" name="Rectangle 17"/>
          <p:cNvSpPr/>
          <p:nvPr/>
        </p:nvSpPr>
        <p:spPr>
          <a:xfrm>
            <a:off x="1581912" y="2331720"/>
            <a:ext cx="425196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300" b="1">
                <a:solidFill>
                  <a:srgbClr val="6A2CC9"/>
                </a:solidFill>
                <a:latin typeface="Arial"/>
              </a:rPr>
              <a:t>BUSINESS RULES</a:t>
            </a:r>
          </a:p>
        </p:txBody>
      </p:sp>
      <p:sp>
        <p:nvSpPr>
          <p:cNvPr id="19" name="Rounded Rectangle 18"/>
          <p:cNvSpPr/>
          <p:nvPr/>
        </p:nvSpPr>
        <p:spPr>
          <a:xfrm>
            <a:off x="1581912" y="2770632"/>
            <a:ext cx="425196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120" b="0">
                <a:solidFill>
                  <a:srgbClr val="33334D"/>
                </a:solidFill>
                <a:latin typeface="Arial"/>
              </a:rPr>
              <a:t>Kriteria pencapaian KPI menjadi konteks analisis dan dapat dikembangkan mengikuti Measurement.</a:t>
            </a:r>
          </a:p>
        </p:txBody>
      </p:sp>
      <p:sp>
        <p:nvSpPr>
          <p:cNvPr id="20" name="Rounded Rectangle 19"/>
          <p:cNvSpPr/>
          <p:nvPr/>
        </p:nvSpPr>
        <p:spPr>
          <a:xfrm>
            <a:off x="6355080" y="2331720"/>
            <a:ext cx="566928" cy="56692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02</a:t>
            </a:r>
          </a:p>
        </p:txBody>
      </p:sp>
      <p:sp>
        <p:nvSpPr>
          <p:cNvPr id="21" name="Rectangle 20"/>
          <p:cNvSpPr/>
          <p:nvPr/>
        </p:nvSpPr>
        <p:spPr>
          <a:xfrm>
            <a:off x="7068312" y="2331720"/>
            <a:ext cx="425196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300" b="1">
                <a:solidFill>
                  <a:srgbClr val="6A2CC9"/>
                </a:solidFill>
                <a:latin typeface="Arial"/>
              </a:rPr>
              <a:t>KNOWLEDGE</a:t>
            </a:r>
          </a:p>
        </p:txBody>
      </p:sp>
      <p:sp>
        <p:nvSpPr>
          <p:cNvPr id="22" name="Rounded Rectangle 21"/>
          <p:cNvSpPr/>
          <p:nvPr/>
        </p:nvSpPr>
        <p:spPr>
          <a:xfrm>
            <a:off x="7068312" y="2770632"/>
            <a:ext cx="425196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120" b="0">
                <a:solidFill>
                  <a:srgbClr val="33334D"/>
                </a:solidFill>
                <a:latin typeface="Arial"/>
              </a:rPr>
              <a:t>Dokumentasi alur, prompt, dan aturan analisis untuk mengurangi ketergantungan pada satu orang.</a:t>
            </a:r>
          </a:p>
        </p:txBody>
      </p:sp>
      <p:sp>
        <p:nvSpPr>
          <p:cNvPr id="23" name="Rounded Rectangle 22"/>
          <p:cNvSpPr/>
          <p:nvPr/>
        </p:nvSpPr>
        <p:spPr>
          <a:xfrm>
            <a:off x="868680" y="3840479"/>
            <a:ext cx="566928" cy="56692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03</a:t>
            </a:r>
          </a:p>
        </p:txBody>
      </p:sp>
      <p:sp>
        <p:nvSpPr>
          <p:cNvPr id="24" name="Rectangle 23"/>
          <p:cNvSpPr/>
          <p:nvPr/>
        </p:nvSpPr>
        <p:spPr>
          <a:xfrm>
            <a:off x="1581912" y="3840479"/>
            <a:ext cx="425196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300" b="1">
                <a:solidFill>
                  <a:srgbClr val="6A2CC9"/>
                </a:solidFill>
                <a:latin typeface="Arial"/>
              </a:rPr>
              <a:t>DATA &amp; AUDIT TRAIL</a:t>
            </a:r>
          </a:p>
        </p:txBody>
      </p:sp>
      <p:sp>
        <p:nvSpPr>
          <p:cNvPr id="25" name="Rounded Rectangle 24"/>
          <p:cNvSpPr/>
          <p:nvPr/>
        </p:nvSpPr>
        <p:spPr>
          <a:xfrm>
            <a:off x="1581912" y="4279392"/>
            <a:ext cx="425196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120" b="0">
                <a:solidFill>
                  <a:srgbClr val="33334D"/>
                </a:solidFill>
                <a:latin typeface="Arial"/>
              </a:rPr>
              <a:t>Evidence dan hasil analisis tersimpan sebagai histori yang dapat ditelusuri.</a:t>
            </a:r>
          </a:p>
        </p:txBody>
      </p:sp>
      <p:sp>
        <p:nvSpPr>
          <p:cNvPr id="26" name="Rounded Rectangle 25"/>
          <p:cNvSpPr/>
          <p:nvPr/>
        </p:nvSpPr>
        <p:spPr>
          <a:xfrm>
            <a:off x="6355080" y="3840479"/>
            <a:ext cx="566928" cy="566928"/>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00" b="1">
                <a:solidFill>
                  <a:srgbClr val="FFFFFF"/>
                </a:solidFill>
                <a:latin typeface="Arial"/>
              </a:rPr>
              <a:t>04</a:t>
            </a:r>
          </a:p>
        </p:txBody>
      </p:sp>
      <p:sp>
        <p:nvSpPr>
          <p:cNvPr id="27" name="Rectangle 26"/>
          <p:cNvSpPr/>
          <p:nvPr/>
        </p:nvSpPr>
        <p:spPr>
          <a:xfrm>
            <a:off x="7068312" y="3840479"/>
            <a:ext cx="425196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300" b="1">
                <a:solidFill>
                  <a:srgbClr val="6A2CC9"/>
                </a:solidFill>
                <a:latin typeface="Arial"/>
              </a:rPr>
              <a:t>CONTINUOUS IMPROVEMENT</a:t>
            </a:r>
          </a:p>
        </p:txBody>
      </p:sp>
      <p:sp>
        <p:nvSpPr>
          <p:cNvPr id="28" name="Rounded Rectangle 27"/>
          <p:cNvSpPr/>
          <p:nvPr/>
        </p:nvSpPr>
        <p:spPr>
          <a:xfrm>
            <a:off x="7068312" y="4279392"/>
            <a:ext cx="4251960" cy="868680"/>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t" tIns="91440" bIns="91440" wrap="square"/>
          <a:lstStyle/>
          <a:p>
            <a:pPr algn="l"/>
            <a:r>
              <a:rPr sz="1120" b="0">
                <a:solidFill>
                  <a:srgbClr val="33334D"/>
                </a:solidFill>
                <a:latin typeface="Arial"/>
              </a:rPr>
              <a:t>Feedback hasil analisis digunakan untuk memperbaiki rule, prompt, dan cakupan dokumen.</a:t>
            </a:r>
          </a:p>
        </p:txBody>
      </p:sp>
      <p:sp>
        <p:nvSpPr>
          <p:cNvPr id="29" name="Rectangle 28"/>
          <p:cNvSpPr/>
          <p:nvPr/>
        </p:nvSpPr>
        <p:spPr>
          <a:xfrm>
            <a:off x="914400" y="5440680"/>
            <a:ext cx="10149840" cy="4754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050" b="1">
                <a:solidFill>
                  <a:srgbClr val="20288F"/>
                </a:solidFill>
                <a:latin typeface="Arial"/>
              </a:rPr>
              <a:t>Roadmap: perluasan jenis evidence → peningkatan business rules → evaluasi kualitas AI → pengembangan forecasting / risk insight.</a:t>
            </a:r>
          </a:p>
        </p:txBody>
      </p:sp>
      <p:sp>
        <p:nvSpPr>
          <p:cNvPr id="30" name="TextBox 29"/>
          <p:cNvSpPr txBox="1"/>
          <p:nvPr/>
        </p:nvSpPr>
        <p:spPr>
          <a:xfrm>
            <a:off x="868680" y="5806440"/>
            <a:ext cx="10424160" cy="320040"/>
          </a:xfrm>
          <a:prstGeom prst="rect">
            <a:avLst/>
          </a:prstGeom>
          <a:noFill/>
        </p:spPr>
        <p:txBody>
          <a:bodyPr wrap="none">
            <a:spAutoFit/>
          </a:bodyPr>
          <a:lstStyle/>
          <a:p>
            <a:r>
              <a:rPr sz="850">
                <a:solidFill>
                  <a:srgbClr val="6B6B80"/>
                </a:solidFill>
                <a:latin typeface="Arial"/>
              </a:rPr>
              <a:t>Sustainability difokuskan pada standardisasi proses, dokumentasi, histori evidence, dan continuous improvement.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610987"/>
            <a:ext cx="731520" cy="731520"/>
          </a:xfrm>
          <a:prstGeom prst="ellipse">
            <a:avLst/>
          </a:prstGeom>
          <a:solidFill>
            <a:srgbClr val="6A2CC9"/>
          </a:solidFill>
          <a:effectLst>
            <a:outerShdw blurRad="101600" dist="25400" dir="5400000" algn="bl" rotWithShape="0">
              <a:srgbClr val="6A2CC9">
                <a:alpha val="28000"/>
              </a:srgbClr>
            </a:outerShdw>
          </a:effectLst>
        </p:spPr>
        <p:txBody>
          <a:bodyPr/>
          <a:p/>
        </p:txBody>
      </p:sp>
      <p:sp>
        <p:nvSpPr>
          <p:cNvPr id="4" name="Text 2"/>
          <p:cNvSpPr/>
          <p:nvPr/>
        </p:nvSpPr>
        <p:spPr>
          <a:xfrm>
            <a:off x="548640" y="610987"/>
            <a:ext cx="731520" cy="7315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08</a:t>
            </a:r>
            <a:endParaRPr lang="en-US" sz="2200" dirty="0"/>
          </a:p>
        </p:txBody>
      </p:sp>
      <p:sp>
        <p:nvSpPr>
          <p:cNvPr id="5" name="Text 3"/>
          <p:cNvSpPr/>
          <p:nvPr/>
        </p:nvSpPr>
        <p:spPr>
          <a:xfrm>
            <a:off x="1463040" y="590203"/>
            <a:ext cx="7498080" cy="777240"/>
          </a:xfrm>
          <a:prstGeom prst="rect">
            <a:avLst/>
          </a:prstGeom>
          <a:noFill/>
        </p:spPr>
        <p:txBody>
          <a:bodyPr wrap="square" lIns="0" tIns="0" rIns="0" bIns="0" rtlCol="0" anchor="ctr"/>
          <a:lstStyle/>
          <a:p>
            <a:pPr marL="0" indent="0">
              <a:buNone/>
            </a:pPr>
            <a:r>
              <a:rPr lang="en-US" sz="3400" b="1" dirty="0">
                <a:solidFill>
                  <a:srgbClr val="20288F"/>
                </a:solidFill>
                <a:latin typeface="Arial" panose="020B0604020202020204" pitchFamily="34" charset="0"/>
                <a:ea typeface="Arial" panose="020B0604020202020204" pitchFamily="34" charset="-122"/>
                <a:cs typeface="Arial" panose="020B0604020202020204" pitchFamily="34" charset="-120"/>
              </a:rPr>
              <a:t>Lesson Learned</a:t>
            </a:r>
            <a:endParaRPr lang="en-US" sz="3400" dirty="0"/>
          </a:p>
        </p:txBody>
      </p:sp>
      <p:sp>
        <p:nvSpPr>
          <p:cNvPr id="8" name="Text 6"/>
          <p:cNvSpPr/>
          <p:nvPr/>
        </p:nvSpPr>
        <p:spPr>
          <a:xfrm>
            <a:off x="548640" y="1417320"/>
            <a:ext cx="8229600" cy="548640"/>
          </a:xfrm>
          <a:prstGeom prst="rect">
            <a:avLst/>
          </a:prstGeom>
          <a:noFill/>
        </p:spPr>
        <p:txBody>
          <a:bodyPr wrap="square" lIns="0" tIns="0" rIns="0" bIns="0" rtlCol="0" anchor="ctr"/>
          <a:lstStyle/>
          <a:p>
            <a:pPr marL="0" indent="0">
              <a:buNone/>
            </a:pPr>
            <a:r>
              <a:rPr lang="en-US" sz="1450" b="1" i="1" dirty="0">
                <a:solidFill>
                  <a:srgbClr val="6A2CC9"/>
                </a:solidFill>
                <a:latin typeface="Arial" panose="020B0604020202020204" pitchFamily="34" charset="0"/>
                <a:ea typeface="Arial" panose="020B0604020202020204" pitchFamily="34" charset="-122"/>
                <a:cs typeface="Arial" panose="020B0604020202020204" pitchFamily="34" charset="-120"/>
              </a:rPr>
              <a:t>Tujuan bagian ini:  </a:t>
            </a:r>
            <a:r>
              <a:rPr lang="en-US" sz="1450" i="1" dirty="0">
                <a:solidFill>
                  <a:srgbClr val="33334D"/>
                </a:solidFill>
                <a:latin typeface="Arial" panose="020B0604020202020204" pitchFamily="34" charset="0"/>
                <a:ea typeface="Arial" panose="020B0604020202020204" pitchFamily="34" charset="-122"/>
                <a:cs typeface="Arial" panose="020B0604020202020204" pitchFamily="34" charset="-120"/>
              </a:rPr>
              <a:t>Bagikan pembelajaran agar inovasi/kaizen dapat direplikasi unit lain.</a:t>
            </a:r>
            <a:endParaRPr lang="en-US" sz="1450" dirty="0"/>
          </a:p>
        </p:txBody>
      </p:sp>
      <p:sp>
        <p:nvSpPr>
          <p:cNvPr id="9" name="Shape 7"/>
          <p:cNvSpPr/>
          <p:nvPr/>
        </p:nvSpPr>
        <p:spPr>
          <a:xfrm>
            <a:off x="548640" y="2148840"/>
            <a:ext cx="7955280" cy="3703320"/>
          </a:xfrm>
          <a:prstGeom prst="roundRect">
            <a:avLst>
              <a:gd name="adj" fmla="val 2963"/>
            </a:avLst>
          </a:prstGeom>
          <a:solidFill>
            <a:srgbClr val="F5F1FF"/>
          </a:solidFill>
          <a:ln w="12700">
            <a:solidFill>
              <a:srgbClr val="EFE7FF"/>
            </a:solidFill>
            <a:prstDash val="solid"/>
          </a:ln>
          <a:effectLst>
            <a:outerShdw blurRad="101600" dist="25400" dir="5400000" algn="bl" rotWithShape="0">
              <a:srgbClr val="C9BEE8">
                <a:alpha val="30000"/>
              </a:srgbClr>
            </a:outerShdw>
          </a:effectLst>
        </p:spPr>
        <p:txBody>
          <a:bodyPr/>
          <a:p/>
        </p:txBody>
      </p:sp>
      <p:sp>
        <p:nvSpPr>
          <p:cNvPr id="10" name="Text 8"/>
          <p:cNvSpPr/>
          <p:nvPr/>
        </p:nvSpPr>
        <p:spPr>
          <a:xfrm>
            <a:off x="868680" y="2377440"/>
            <a:ext cx="7315200" cy="365760"/>
          </a:xfrm>
          <a:prstGeom prst="rect">
            <a:avLst/>
          </a:prstGeom>
          <a:noFill/>
        </p:spPr>
        <p:txBody>
          <a:bodyPr wrap="square" lIns="0" tIns="0" rIns="0" bIns="0" rtlCol="0" anchor="t"/>
          <a:lstStyle/>
          <a:p>
            <a:pPr marL="0" indent="0" algn="l">
              <a:buNone/>
            </a:pPr>
            <a:r>
              <a:rPr sz="1600" b="1">
                <a:solidFill>
                  <a:srgbClr val="6A2CC9"/>
                </a:solidFill>
                <a:latin typeface="Arial"/>
              </a:rPr>
              <a:t>Lesson Learned</a:t>
            </a:r>
            <a:endParaRPr lang="en-US" sz="1600" dirty="0"/>
          </a:p>
        </p:txBody>
      </p:sp>
      <p:sp>
        <p:nvSpPr>
          <p:cNvPr id="12" name="Text 10"/>
          <p:cNvSpPr/>
          <p:nvPr/>
        </p:nvSpPr>
        <p:spPr>
          <a:xfrm>
            <a:off x="548640" y="6400800"/>
            <a:ext cx="11094415" cy="274320"/>
          </a:xfrm>
          <a:prstGeom prst="rect">
            <a:avLst/>
          </a:prstGeom>
          <a:noFill/>
        </p:spPr>
        <p:txBody>
          <a:bodyPr wrap="square" lIns="0" tIns="0" rIns="0" bIns="0" rtlCol="0" anchor="t"/>
          <a:lstStyle/>
          <a:p>
            <a:pPr marL="0" indent="0" algn="l">
              <a:buNone/>
            </a:pPr>
            <a:r>
              <a:rPr sz="850" b="0">
                <a:solidFill>
                  <a:srgbClr val="6B6B80"/>
                </a:solidFill>
                <a:latin typeface="Arial"/>
              </a:rPr>
              <a:t>·  IAKA 2026 — Kerangka Presentasi Peserta</a:t>
            </a:r>
            <a:endParaRPr lang="en-US" sz="950" dirty="0"/>
          </a:p>
        </p:txBody>
      </p:sp>
      <p:pic>
        <p:nvPicPr>
          <p:cNvPr id="14" name="Picture 13"/>
          <p:cNvPicPr>
            <a:picLocks noChangeAspect="1"/>
          </p:cNvPicPr>
          <p:nvPr/>
        </p:nvPicPr>
        <p:blipFill>
          <a:blip r:embed="rId1"/>
          <a:stretch>
            <a:fillRect/>
          </a:stretch>
        </p:blipFill>
        <p:spPr>
          <a:xfrm>
            <a:off x="11056239" y="11533"/>
            <a:ext cx="1140374" cy="634767"/>
          </a:xfrm>
          <a:prstGeom prst="rect">
            <a:avLst/>
          </a:prstGeom>
        </p:spPr>
      </p:pic>
      <p:pic>
        <p:nvPicPr>
          <p:cNvPr id="16" name="Picture 15"/>
          <p:cNvPicPr>
            <a:picLocks noChangeAspect="1"/>
          </p:cNvPicPr>
          <p:nvPr/>
        </p:nvPicPr>
        <p:blipFill>
          <a:blip r:embed="rId2"/>
          <a:stretch>
            <a:fillRect/>
          </a:stretch>
        </p:blipFill>
        <p:spPr>
          <a:xfrm>
            <a:off x="-108068" y="-179554"/>
            <a:ext cx="1448261" cy="814647"/>
          </a:xfrm>
          <a:prstGeom prst="rect">
            <a:avLst/>
          </a:prstGeom>
        </p:spPr>
      </p:pic>
      <p:sp>
        <p:nvSpPr>
          <p:cNvPr id="17" name="Rounded Rectangle 16"/>
          <p:cNvSpPr/>
          <p:nvPr/>
        </p:nvSpPr>
        <p:spPr>
          <a:xfrm>
            <a:off x="914400" y="2240280"/>
            <a:ext cx="2514600" cy="530352"/>
          </a:xfrm>
          <a:prstGeom prst="roundRect">
            <a:avLst/>
          </a:prstGeom>
          <a:solidFill>
            <a:srgbClr val="20288F"/>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50" b="1">
                <a:solidFill>
                  <a:srgbClr val="FFFFFF"/>
                </a:solidFill>
                <a:latin typeface="Arial"/>
              </a:rPr>
              <a:t>AI membutuhkan konteks</a:t>
            </a:r>
          </a:p>
        </p:txBody>
      </p:sp>
      <p:sp>
        <p:nvSpPr>
          <p:cNvPr id="18" name="Rounded Rectangle 17"/>
          <p:cNvSpPr/>
          <p:nvPr/>
        </p:nvSpPr>
        <p:spPr>
          <a:xfrm>
            <a:off x="3611880" y="2240280"/>
            <a:ext cx="7178040" cy="566928"/>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l"/>
            <a:r>
              <a:rPr sz="1140" b="0">
                <a:solidFill>
                  <a:srgbClr val="33334D"/>
                </a:solidFill>
                <a:latin typeface="Arial"/>
              </a:rPr>
              <a:t>AI lebih konsisten ketika diberikan Measurement, Target, periode, dan business context bersama evidence.</a:t>
            </a:r>
          </a:p>
        </p:txBody>
      </p:sp>
      <p:sp>
        <p:nvSpPr>
          <p:cNvPr id="19" name="Rounded Rectangle 18"/>
          <p:cNvSpPr/>
          <p:nvPr/>
        </p:nvSpPr>
        <p:spPr>
          <a:xfrm>
            <a:off x="914400" y="3063240"/>
            <a:ext cx="2514600" cy="530352"/>
          </a:xfrm>
          <a:prstGeom prst="roundRect">
            <a:avLst/>
          </a:prstGeom>
          <a:solidFill>
            <a:srgbClr val="6A2CC9"/>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50" b="1">
                <a:solidFill>
                  <a:srgbClr val="FFFFFF"/>
                </a:solidFill>
                <a:latin typeface="Arial"/>
              </a:rPr>
              <a:t>Evidence ≠ pencapaian</a:t>
            </a:r>
          </a:p>
        </p:txBody>
      </p:sp>
      <p:sp>
        <p:nvSpPr>
          <p:cNvPr id="20" name="Rounded Rectangle 19"/>
          <p:cNvSpPr/>
          <p:nvPr/>
        </p:nvSpPr>
        <p:spPr>
          <a:xfrm>
            <a:off x="3611880" y="3063240"/>
            <a:ext cx="7178040" cy="566928"/>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l"/>
            <a:r>
              <a:rPr sz="1140" b="0">
                <a:solidFill>
                  <a:srgbClr val="33334D"/>
                </a:solidFill>
                <a:latin typeface="Arial"/>
              </a:rPr>
              <a:t>Jenis dokumen tidak cukup; status dan isi dokumen harus dipahami. UAT dan BA Go Live dapat memiliki makna pencapaian berbeda.</a:t>
            </a:r>
          </a:p>
        </p:txBody>
      </p:sp>
      <p:sp>
        <p:nvSpPr>
          <p:cNvPr id="21" name="Rounded Rectangle 20"/>
          <p:cNvSpPr/>
          <p:nvPr/>
        </p:nvSpPr>
        <p:spPr>
          <a:xfrm>
            <a:off x="914400" y="3886200"/>
            <a:ext cx="2514600" cy="530352"/>
          </a:xfrm>
          <a:prstGeom prst="roundRect">
            <a:avLst/>
          </a:prstGeom>
          <a:solidFill>
            <a:srgbClr val="1F6FC1"/>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50" b="1">
                <a:solidFill>
                  <a:srgbClr val="FFFFFF"/>
                </a:solidFill>
                <a:latin typeface="Arial"/>
              </a:rPr>
              <a:t>Business rules tetap penting</a:t>
            </a:r>
          </a:p>
        </p:txBody>
      </p:sp>
      <p:sp>
        <p:nvSpPr>
          <p:cNvPr id="22" name="Rounded Rectangle 21"/>
          <p:cNvSpPr/>
          <p:nvPr/>
        </p:nvSpPr>
        <p:spPr>
          <a:xfrm>
            <a:off x="3611880" y="3886200"/>
            <a:ext cx="7178040" cy="566928"/>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l"/>
            <a:r>
              <a:rPr sz="1140" b="0">
                <a:solidFill>
                  <a:srgbClr val="33334D"/>
                </a:solidFill>
                <a:latin typeface="Arial"/>
              </a:rPr>
              <a:t>AI membantu memahami dokumen, sedangkan aturan bisnis menjadi dasar bagaimana hasil analisis digunakan.</a:t>
            </a:r>
          </a:p>
        </p:txBody>
      </p:sp>
      <p:sp>
        <p:nvSpPr>
          <p:cNvPr id="23" name="Rounded Rectangle 22"/>
          <p:cNvSpPr/>
          <p:nvPr/>
        </p:nvSpPr>
        <p:spPr>
          <a:xfrm>
            <a:off x="914400" y="4709160"/>
            <a:ext cx="2514600" cy="530352"/>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250" b="1">
                <a:solidFill>
                  <a:srgbClr val="FFFFFF"/>
                </a:solidFill>
                <a:latin typeface="Arial"/>
              </a:rPr>
              <a:t>Dokumen dapat menjadi intelligence</a:t>
            </a:r>
          </a:p>
        </p:txBody>
      </p:sp>
      <p:sp>
        <p:nvSpPr>
          <p:cNvPr id="24" name="Rounded Rectangle 23"/>
          <p:cNvSpPr/>
          <p:nvPr/>
        </p:nvSpPr>
        <p:spPr>
          <a:xfrm>
            <a:off x="3611880" y="4709160"/>
            <a:ext cx="7178040" cy="566928"/>
          </a:xfrm>
          <a:prstGeom prst="roundRect">
            <a:avLst/>
          </a:prstGeom>
          <a:solidFill>
            <a:srgbClr val="F6F7FC"/>
          </a:solidFill>
          <a:ln w="12700">
            <a:solidFill>
              <a:srgbClr val="DDDEEA"/>
            </a:solid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l"/>
            <a:r>
              <a:rPr sz="1140" b="0">
                <a:solidFill>
                  <a:srgbClr val="33334D"/>
                </a:solidFill>
                <a:latin typeface="Arial"/>
              </a:rPr>
              <a:t>MPTI/RJPP dapat diubah dari arsip menjadi informasi relevan, insight, dan recommendation.</a:t>
            </a:r>
          </a:p>
        </p:txBody>
      </p:sp>
      <p:sp>
        <p:nvSpPr>
          <p:cNvPr id="25" name="Rectangle 24"/>
          <p:cNvSpPr/>
          <p:nvPr/>
        </p:nvSpPr>
        <p:spPr>
          <a:xfrm>
            <a:off x="914400" y="5623560"/>
            <a:ext cx="1005840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r>
              <a:rPr sz="1150" b="1">
                <a:solidFill>
                  <a:srgbClr val="20288F"/>
                </a:solidFill>
                <a:latin typeface="Arial"/>
              </a:rPr>
              <a:t>Pesan utama: ubah proses dari manual judgment menjadi evidence-based, data-driven, dan continuously improved.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A1F9E"/>
        </a:solidFill>
        <a:effectLst/>
      </p:bgPr>
    </p:bg>
    <p:spTree>
      <p:nvGrpSpPr>
        <p:cNvPr id="1" name=""/>
        <p:cNvGrpSpPr/>
        <p:nvPr/>
      </p:nvGrpSpPr>
      <p:grpSpPr>
        <a:xfrm>
          <a:off x="0" y="0"/>
          <a:ext cx="0" cy="0"/>
          <a:chOff x="0" y="0"/>
          <a:chExt cx="0" cy="0"/>
        </a:xfrm>
      </p:grpSpPr>
      <p:sp>
        <p:nvSpPr>
          <p:cNvPr id="2" name="Shape 0"/>
          <p:cNvSpPr/>
          <p:nvPr/>
        </p:nvSpPr>
        <p:spPr>
          <a:xfrm>
            <a:off x="-1645920" y="3657600"/>
            <a:ext cx="4937760" cy="4937760"/>
          </a:xfrm>
          <a:prstGeom prst="ellipse">
            <a:avLst/>
          </a:prstGeom>
          <a:solidFill>
            <a:srgbClr val="CB69FF">
              <a:alpha val="15000"/>
            </a:srgbClr>
          </a:solidFill>
        </p:spPr>
        <p:txBody>
          <a:bodyPr/>
          <a:p/>
        </p:txBody>
      </p:sp>
      <p:sp>
        <p:nvSpPr>
          <p:cNvPr id="3" name="Shape 1"/>
          <p:cNvSpPr/>
          <p:nvPr/>
        </p:nvSpPr>
        <p:spPr>
          <a:xfrm>
            <a:off x="9692640" y="-1645920"/>
            <a:ext cx="4572000" cy="4572000"/>
          </a:xfrm>
          <a:prstGeom prst="ellipse">
            <a:avLst/>
          </a:prstGeom>
          <a:solidFill>
            <a:srgbClr val="FFFFFF">
              <a:alpha val="8000"/>
            </a:srgbClr>
          </a:solidFill>
        </p:spPr>
        <p:txBody>
          <a:bodyPr/>
          <a:p/>
        </p:txBody>
      </p:sp>
      <p:sp>
        <p:nvSpPr>
          <p:cNvPr id="4" name="Text 2"/>
          <p:cNvSpPr/>
          <p:nvPr/>
        </p:nvSpPr>
        <p:spPr>
          <a:xfrm>
            <a:off x="0" y="2926080"/>
            <a:ext cx="12192000" cy="731520"/>
          </a:xfrm>
          <a:prstGeom prst="rect">
            <a:avLst/>
          </a:prstGeom>
          <a:noFill/>
        </p:spPr>
        <p:txBody>
          <a:bodyPr wrap="square" lIns="0" tIns="0" rIns="0" bIns="0" rtlCol="0" anchor="ctr"/>
          <a:lstStyle/>
          <a:p>
            <a:pPr marL="0" indent="0" algn="ctr">
              <a:buNone/>
            </a:pPr>
            <a:r>
              <a:rPr lang="en-US" sz="3200" b="1" dirty="0">
                <a:solidFill>
                  <a:srgbClr val="FFFFFF"/>
                </a:solidFill>
                <a:latin typeface="Arial" panose="020B0604020202020204" pitchFamily="34" charset="0"/>
                <a:ea typeface="Arial" panose="020B0604020202020204" pitchFamily="34" charset="-122"/>
                <a:cs typeface="Arial" panose="020B0604020202020204" pitchFamily="34" charset="-120"/>
              </a:rPr>
              <a:t>TERIMA KASIH</a:t>
            </a:r>
            <a:endParaRPr lang="en-US" sz="3200" dirty="0"/>
          </a:p>
        </p:txBody>
      </p:sp>
      <p:pic>
        <p:nvPicPr>
          <p:cNvPr id="21" name="Picture 20"/>
          <p:cNvPicPr>
            <a:picLocks noChangeAspect="1"/>
          </p:cNvPicPr>
          <p:nvPr/>
        </p:nvPicPr>
        <p:blipFill>
          <a:blip r:embed="rId1"/>
          <a:stretch>
            <a:fillRect/>
          </a:stretch>
        </p:blipFill>
        <p:spPr>
          <a:xfrm>
            <a:off x="10670874" y="89912"/>
            <a:ext cx="1454649" cy="809702"/>
          </a:xfrm>
          <a:prstGeom prst="rect">
            <a:avLst/>
          </a:prstGeom>
        </p:spPr>
      </p:pic>
      <p:pic>
        <p:nvPicPr>
          <p:cNvPr id="23" name="Picture 22"/>
          <p:cNvPicPr>
            <a:picLocks noChangeAspect="1"/>
          </p:cNvPicPr>
          <p:nvPr/>
        </p:nvPicPr>
        <p:blipFill>
          <a:blip r:embed="rId2"/>
          <a:stretch>
            <a:fillRect/>
          </a:stretch>
        </p:blipFill>
        <p:spPr>
          <a:xfrm>
            <a:off x="-217170" y="-139700"/>
            <a:ext cx="2339340" cy="1559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6795</Words>
  <Application>WPS Presentation</Application>
  <PresentationFormat>Widescreen</PresentationFormat>
  <Paragraphs>258</Paragraphs>
  <Slides>15</Slides>
  <Notes>11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Arial</vt:lpstr>
      <vt:lpstr>SimSun</vt:lpstr>
      <vt:lpstr>Wingdings</vt:lpstr>
      <vt:lpstr>Arial</vt:lpstr>
      <vt:lpstr>Arial</vt:lpstr>
      <vt:lpstr>Calibri</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imams</cp:lastModifiedBy>
  <cp:revision>8</cp:revision>
  <dcterms:created xsi:type="dcterms:W3CDTF">2026-07-28T04:35:00Z</dcterms:created>
  <dcterms:modified xsi:type="dcterms:W3CDTF">2026-08-14T14:50:32Z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DDC24AF071B64C2F813F66971433EE2E_12</vt:lpwstr>
  </property>
</Properties>
</file>