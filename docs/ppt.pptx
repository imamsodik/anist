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851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presentasi untuk peserta IAKA 2026. Sesuaikan bagian yang dibawakan dengan fase yang sedang dipresentasikan (lihat slide Alur).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Bagian tidak selalu dibawakan sekaligus. Pitching Fase 1 fokus pada bagian 1–4; bagian berikutnya menyusul sesuai kemajuan proyek di tiap fase.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Isi wajib (Panduan BAB 1): kondisi saat ini, alasan penting, data awal. Setiap angka harus punya satuan, periode, dan sumber — tanpa itu dianggap belum terverifikasi.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Masalah harus spesifik dan terukur. Cantumkan baseline dengan satuan jelas dan sumbernya (log produksi, laporan QC, tiket helpdesk, catatan keuangan) beserta periode pengambilan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Isi wajib (BAB 2): akar masalah dengan metode sederhana (5 Why / fishbone). Solusi Anda nanti harus jelas menyerang akar masalah 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Isi wajib (BAB 3–4): mekanisme kerja, keunggulan, kebaruan, alur before/after, target &amp; estimasi. Untuk Kaizen sebut SOP yang diperbaiki; untuk Inovasi sebut potensi standar baru / sumber pendapatan. Cantumkan rencana uji coba (MVP) dan calon Fasilitator min. Kadep.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Isi wajib (BAB 6–7): laporan uji coba (PIC, lokasi, waktu, sumber daya), kendala &amp; problem solving, tabel Before/After dengan n dan grafik tren, dibandingkan target Fase 1. Lampirkan data mentah yang dapat diolah dan bukti bertanggal.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Isi wajib (BAB 8–9): perhitungan business impact dengan kertas kerja terbuka (rumus dapat diperiksa), plus People/Customer/ESG impact. Setiap klaim non-finansial harus berbukti, sama seperti klaim finansial.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Isi wajib (BAB 10): mekanisme keberlanjutan — pengesahan &amp; registrasi dokumen, dokumen turunan diperbarui, bukti sosialisasi, penutupan resmi sistem lama, transfer knowledge, jadwal audit keberlanjutan, dan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Isi wajib (BAB 11–12): tantangan, mitigasi, pembelajaran, kesimpulan &amp; rekomendasi pengembangan.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pesan utama proyek dalam satu kalimat. Ingatkan penilaian IAKA 2026 berbasis bukti nyata di unit kerja.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F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4206240" cy="4206240"/>
          </a:xfrm>
          <a:prstGeom prst="ellipse">
            <a:avLst/>
          </a:prstGeom>
          <a:solidFill>
            <a:srgbClr val="CB69FF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PERURI  ·  INNOVATION AWARD &amp; KAIZEN AWARD</a:t>
            </a:r>
            <a:endParaRPr lang="en-US" sz="1300" dirty="0">
              <a:solidFill>
                <a:schemeClr val="bg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Kerangka Presentasi Peserta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IAKA 2026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4892040"/>
            <a:ext cx="3200400" cy="502920"/>
          </a:xfrm>
          <a:prstGeom prst="roundRect">
            <a:avLst>
              <a:gd name="adj" fmla="val 49091"/>
            </a:avLst>
          </a:prstGeom>
          <a:solidFill>
            <a:srgbClr val="6A2CC9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892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 SDM · 2026</a:t>
            </a:r>
            <a:endParaRPr lang="en-US" sz="13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2BD31F3-DBAE-CDA4-F47C-1AFBAA269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0874" y="89912"/>
            <a:ext cx="1454649" cy="80970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77B2836-D742-3AD4-8792-B143217312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17170" y="-139700"/>
            <a:ext cx="2339340" cy="1559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6300"/>
            <a:ext cx="640080" cy="640080"/>
          </a:xfrm>
          <a:prstGeom prst="ellipse">
            <a:avLst/>
          </a:prstGeom>
          <a:solidFill>
            <a:srgbClr val="6A2CC9"/>
          </a:solidFill>
          <a:ln/>
          <a:effectLst>
            <a:outerShdw blurRad="101600" dist="25400" dir="5400000" algn="bl" rotWithShape="0">
              <a:srgbClr val="6A2CC9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635093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0193" y="6005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8 bagian presentasi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581580" cy="1417320"/>
          </a:xfrm>
          <a:prstGeom prst="roundRect">
            <a:avLst>
              <a:gd name="adj" fmla="val 6452"/>
            </a:avLst>
          </a:prstGeom>
          <a:solidFill>
            <a:srgbClr val="F5F1FF"/>
          </a:solidFill>
          <a:ln w="12700">
            <a:solidFill>
              <a:srgbClr val="EFE7FF"/>
            </a:solidFill>
            <a:prstDash val="solid"/>
          </a:ln>
          <a:effectLst>
            <a:outerShdw blurRad="76200" dist="25400" dir="5400000" algn="bl" rotWithShape="0">
              <a:srgbClr val="C9BEE8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2075688"/>
            <a:ext cx="502920" cy="502920"/>
          </a:xfrm>
          <a:prstGeom prst="ellipse">
            <a:avLst/>
          </a:prstGeom>
          <a:solidFill>
            <a:srgbClr val="6A2CC9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22158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Latar Belakang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3386252" y="1874520"/>
            <a:ext cx="2581580" cy="1417320"/>
          </a:xfrm>
          <a:prstGeom prst="roundRect">
            <a:avLst>
              <a:gd name="adj" fmla="val 6452"/>
            </a:avLst>
          </a:prstGeom>
          <a:solidFill>
            <a:srgbClr val="F5F1FF"/>
          </a:solidFill>
          <a:ln w="12700">
            <a:solidFill>
              <a:srgbClr val="EFE7FF"/>
            </a:solidFill>
            <a:prstDash val="solid"/>
          </a:ln>
          <a:effectLst>
            <a:outerShdw blurRad="76200" dist="25400" dir="5400000" algn="bl" rotWithShape="0">
              <a:srgbClr val="C9BEE8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87420" y="2075688"/>
            <a:ext cx="502920" cy="502920"/>
          </a:xfrm>
          <a:prstGeom prst="ellipse">
            <a:avLst/>
          </a:prstGeom>
          <a:solidFill>
            <a:srgbClr val="6A2CC9"/>
          </a:solidFill>
          <a:ln/>
        </p:spPr>
      </p:sp>
      <p:sp>
        <p:nvSpPr>
          <p:cNvPr id="13" name="Text 11"/>
          <p:cNvSpPr/>
          <p:nvPr/>
        </p:nvSpPr>
        <p:spPr>
          <a:xfrm>
            <a:off x="3587420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69132" y="2651760"/>
            <a:ext cx="22158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23864" y="1874520"/>
            <a:ext cx="2581580" cy="1417320"/>
          </a:xfrm>
          <a:prstGeom prst="roundRect">
            <a:avLst>
              <a:gd name="adj" fmla="val 6452"/>
            </a:avLst>
          </a:prstGeom>
          <a:solidFill>
            <a:srgbClr val="F5F1FF"/>
          </a:solidFill>
          <a:ln w="12700">
            <a:solidFill>
              <a:srgbClr val="EFE7FF"/>
            </a:solidFill>
            <a:prstDash val="solid"/>
          </a:ln>
          <a:effectLst>
            <a:outerShdw blurRad="76200" dist="25400" dir="5400000" algn="bl" rotWithShape="0">
              <a:srgbClr val="C9BEE8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25032" y="2075688"/>
            <a:ext cx="502920" cy="502920"/>
          </a:xfrm>
          <a:prstGeom prst="ellipse">
            <a:avLst/>
          </a:prstGeom>
          <a:solidFill>
            <a:srgbClr val="6A2CC9"/>
          </a:solidFill>
          <a:ln/>
        </p:spPr>
      </p:sp>
      <p:sp>
        <p:nvSpPr>
          <p:cNvPr id="18" name="Text 16"/>
          <p:cNvSpPr/>
          <p:nvPr/>
        </p:nvSpPr>
        <p:spPr>
          <a:xfrm>
            <a:off x="6425032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6744" y="2651760"/>
            <a:ext cx="22158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Penyebab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9061475" y="1874520"/>
            <a:ext cx="2581580" cy="1417320"/>
          </a:xfrm>
          <a:prstGeom prst="roundRect">
            <a:avLst>
              <a:gd name="adj" fmla="val 6452"/>
            </a:avLst>
          </a:prstGeom>
          <a:solidFill>
            <a:srgbClr val="F5F1FF"/>
          </a:solidFill>
          <a:ln w="12700">
            <a:solidFill>
              <a:srgbClr val="EFE7FF"/>
            </a:solidFill>
            <a:prstDash val="solid"/>
          </a:ln>
          <a:effectLst>
            <a:outerShdw blurRad="76200" dist="25400" dir="5400000" algn="bl" rotWithShape="0">
              <a:srgbClr val="C9BEE8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262643" y="2075688"/>
            <a:ext cx="502920" cy="502920"/>
          </a:xfrm>
          <a:prstGeom prst="ellipse">
            <a:avLst/>
          </a:prstGeom>
          <a:solidFill>
            <a:srgbClr val="6A2CC9"/>
          </a:solidFill>
          <a:ln/>
        </p:spPr>
      </p:sp>
      <p:sp>
        <p:nvSpPr>
          <p:cNvPr id="23" name="Text 21"/>
          <p:cNvSpPr/>
          <p:nvPr/>
        </p:nvSpPr>
        <p:spPr>
          <a:xfrm>
            <a:off x="9262643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44355" y="2651760"/>
            <a:ext cx="22158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548640" y="3566160"/>
            <a:ext cx="2581580" cy="1417320"/>
          </a:xfrm>
          <a:prstGeom prst="roundRect">
            <a:avLst>
              <a:gd name="adj" fmla="val 6452"/>
            </a:avLst>
          </a:prstGeom>
          <a:solidFill>
            <a:srgbClr val="F5F1FF"/>
          </a:solidFill>
          <a:ln w="12700">
            <a:solidFill>
              <a:srgbClr val="EFE7FF"/>
            </a:solidFill>
            <a:prstDash val="solid"/>
          </a:ln>
          <a:effectLst>
            <a:outerShdw blurRad="76200" dist="25400" dir="5400000" algn="bl" rotWithShape="0">
              <a:srgbClr val="C9BEE8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9808" y="3767328"/>
            <a:ext cx="502920" cy="502920"/>
          </a:xfrm>
          <a:prstGeom prst="ellipse">
            <a:avLst/>
          </a:prstGeom>
          <a:solidFill>
            <a:srgbClr val="6A2CC9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31520" y="4343400"/>
            <a:ext cx="22158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Implementasi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3386252" y="3566160"/>
            <a:ext cx="2581580" cy="1417320"/>
          </a:xfrm>
          <a:prstGeom prst="roundRect">
            <a:avLst>
              <a:gd name="adj" fmla="val 6452"/>
            </a:avLst>
          </a:prstGeom>
          <a:solidFill>
            <a:srgbClr val="F5F1FF"/>
          </a:solidFill>
          <a:ln w="12700">
            <a:solidFill>
              <a:srgbClr val="EFE7FF"/>
            </a:solidFill>
            <a:prstDash val="solid"/>
          </a:ln>
          <a:effectLst>
            <a:outerShdw blurRad="76200" dist="25400" dir="5400000" algn="bl" rotWithShape="0">
              <a:srgbClr val="C9BEE8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587420" y="3767328"/>
            <a:ext cx="502920" cy="502920"/>
          </a:xfrm>
          <a:prstGeom prst="ellipse">
            <a:avLst/>
          </a:prstGeom>
          <a:solidFill>
            <a:srgbClr val="6A2CC9"/>
          </a:solidFill>
          <a:ln/>
        </p:spPr>
      </p:sp>
      <p:sp>
        <p:nvSpPr>
          <p:cNvPr id="33" name="Text 31"/>
          <p:cNvSpPr/>
          <p:nvPr/>
        </p:nvSpPr>
        <p:spPr>
          <a:xfrm>
            <a:off x="3587420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569132" y="4343400"/>
            <a:ext cx="22158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6223864" y="3566160"/>
            <a:ext cx="2581580" cy="1417320"/>
          </a:xfrm>
          <a:prstGeom prst="roundRect">
            <a:avLst>
              <a:gd name="adj" fmla="val 6452"/>
            </a:avLst>
          </a:prstGeom>
          <a:solidFill>
            <a:srgbClr val="F5F1FF"/>
          </a:solidFill>
          <a:ln w="12700">
            <a:solidFill>
              <a:srgbClr val="EFE7FF"/>
            </a:solidFill>
            <a:prstDash val="solid"/>
          </a:ln>
          <a:effectLst>
            <a:outerShdw blurRad="76200" dist="25400" dir="5400000" algn="bl" rotWithShape="0">
              <a:srgbClr val="C9BEE8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25032" y="3767328"/>
            <a:ext cx="502920" cy="502920"/>
          </a:xfrm>
          <a:prstGeom prst="ellipse">
            <a:avLst/>
          </a:prstGeom>
          <a:solidFill>
            <a:srgbClr val="6A2CC9"/>
          </a:solidFill>
          <a:ln/>
        </p:spPr>
      </p:sp>
      <p:sp>
        <p:nvSpPr>
          <p:cNvPr id="38" name="Text 36"/>
          <p:cNvSpPr/>
          <p:nvPr/>
        </p:nvSpPr>
        <p:spPr>
          <a:xfrm>
            <a:off x="6425032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406744" y="4343400"/>
            <a:ext cx="22158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9061475" y="3566160"/>
            <a:ext cx="2581580" cy="1417320"/>
          </a:xfrm>
          <a:prstGeom prst="roundRect">
            <a:avLst>
              <a:gd name="adj" fmla="val 6452"/>
            </a:avLst>
          </a:prstGeom>
          <a:solidFill>
            <a:srgbClr val="F5F1FF"/>
          </a:solidFill>
          <a:ln w="12700">
            <a:solidFill>
              <a:srgbClr val="EFE7FF"/>
            </a:solidFill>
            <a:prstDash val="solid"/>
          </a:ln>
          <a:effectLst>
            <a:outerShdw blurRad="76200" dist="25400" dir="5400000" algn="bl" rotWithShape="0">
              <a:srgbClr val="C9BEE8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262643" y="3767328"/>
            <a:ext cx="502920" cy="502920"/>
          </a:xfrm>
          <a:prstGeom prst="ellipse">
            <a:avLst/>
          </a:prstGeom>
          <a:solidFill>
            <a:srgbClr val="6A2CC9"/>
          </a:solidFill>
          <a:ln/>
        </p:spPr>
      </p:sp>
      <p:sp>
        <p:nvSpPr>
          <p:cNvPr id="43" name="Text 41"/>
          <p:cNvSpPr/>
          <p:nvPr/>
        </p:nvSpPr>
        <p:spPr>
          <a:xfrm>
            <a:off x="9262643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244355" y="4343400"/>
            <a:ext cx="22158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Learned</a:t>
            </a:r>
            <a:endParaRPr lang="en-US" sz="145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10B45A6D-F217-584F-7BD7-6C89F238B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6239" y="11533"/>
            <a:ext cx="1140374" cy="634767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27D9AC1A-9783-8729-85B1-5CDC0A33A1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8068" y="-179554"/>
            <a:ext cx="1448261" cy="8146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635923"/>
            <a:ext cx="731520" cy="731520"/>
          </a:xfrm>
          <a:prstGeom prst="ellipse">
            <a:avLst/>
          </a:prstGeom>
          <a:solidFill>
            <a:srgbClr val="6A2CC9"/>
          </a:solidFill>
          <a:ln/>
          <a:effectLst>
            <a:outerShdw blurRad="101600" dist="25400" dir="5400000" algn="bl" rotWithShape="0">
              <a:srgbClr val="6A2CC9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635923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640081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Latar Belakang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bagian ini:  </a:t>
            </a:r>
            <a:r>
              <a:rPr lang="en-US" sz="1450" i="1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Bangun konteks: mengapa topik ini penting untuk ditangani sekarang.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7955280" cy="3703320"/>
          </a:xfrm>
          <a:prstGeom prst="roundRect">
            <a:avLst>
              <a:gd name="adj" fmla="val 2963"/>
            </a:avLst>
          </a:prstGeom>
          <a:solidFill>
            <a:srgbClr val="F5F1FF"/>
          </a:solidFill>
          <a:ln w="12700">
            <a:solidFill>
              <a:srgbClr val="EFE7FF"/>
            </a:solidFill>
            <a:prstDash val="solid"/>
          </a:ln>
          <a:effectLst>
            <a:outerShdw blurRad="101600" dist="25400" dir="5400000" algn="bl" rotWithShape="0">
              <a:srgbClr val="C9BEE8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harus disampaikan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7223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Kondisi saat ini di proses / unit yang menjadi fokus.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Mengapa ini penting bagi operasional atau perusahaan.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awal yang memicu (angka + periode + sumber datanya).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Ganti poin di atas dengan konten proyek Anda (grafik, tabel, foto, atau diagram).  ·  IAKA 2026 — Kerangka Presentasi Peserta</a:t>
            </a:r>
            <a:endParaRPr lang="en-US" sz="9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5DED23D-D6B8-7AFC-F34D-C87682203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6239" y="11533"/>
            <a:ext cx="1140374" cy="6347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94527B6-43FF-EB7B-4A7A-2744354F31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8068" y="-179554"/>
            <a:ext cx="1448261" cy="8146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635926"/>
            <a:ext cx="731520" cy="731520"/>
          </a:xfrm>
          <a:prstGeom prst="ellipse">
            <a:avLst/>
          </a:prstGeom>
          <a:solidFill>
            <a:srgbClr val="6A2CC9"/>
          </a:solidFill>
          <a:ln/>
          <a:effectLst>
            <a:outerShdw blurRad="101600" dist="25400" dir="5400000" algn="bl" rotWithShape="0">
              <a:srgbClr val="6A2CC9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63592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623455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bagian ini:  </a:t>
            </a:r>
            <a:r>
              <a:rPr lang="en-US" sz="1450" i="1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Nyatakan masalah operasional nyata dan terukur — bukan keluhan umum.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7955280" cy="3703320"/>
          </a:xfrm>
          <a:prstGeom prst="roundRect">
            <a:avLst>
              <a:gd name="adj" fmla="val 2963"/>
            </a:avLst>
          </a:prstGeom>
          <a:solidFill>
            <a:srgbClr val="F5F1FF"/>
          </a:solidFill>
          <a:ln w="12700">
            <a:solidFill>
              <a:srgbClr val="EFE7FF"/>
            </a:solidFill>
            <a:prstDash val="solid"/>
          </a:ln>
          <a:effectLst>
            <a:outerShdw blurRad="101600" dist="25400" dir="5400000" algn="bl" rotWithShape="0">
              <a:srgbClr val="C9BEE8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harus disampaikan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7223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terjadi: di proses &amp; unit mana, sejak kapan, siapa terdampak.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</a:t>
            </a:r>
            <a:r>
              <a:rPr lang="en-US" sz="1450" dirty="0" err="1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permasalahan</a:t>
            </a:r>
            <a:r>
              <a:rPr lang="en-US" sz="1450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450" dirty="0" err="1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misalnya</a:t>
            </a:r>
            <a:r>
              <a:rPr lang="en-US" sz="1450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% defect, menit/siklus, Rp/bulan, jumlah komplain.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 bila dibiarkan: biaya, mutu, kepatuhan, K3L, atau layanan.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Ganti poin di atas dengan konten proyek Anda (grafik, tabel, foto, atau diagram).  ·  IAKA 2026 — Kerangka Presentasi Peserta</a:t>
            </a:r>
            <a:endParaRPr lang="en-US" sz="9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C6D748A-DD60-087F-9D4A-86FD7A0F4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6239" y="11533"/>
            <a:ext cx="1140374" cy="6347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796CE34-DB06-636E-57A5-2F4EE7B185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8068" y="-179554"/>
            <a:ext cx="1448261" cy="8146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669173"/>
            <a:ext cx="731520" cy="731520"/>
          </a:xfrm>
          <a:prstGeom prst="ellipse">
            <a:avLst/>
          </a:prstGeom>
          <a:solidFill>
            <a:srgbClr val="6A2CC9"/>
          </a:solidFill>
          <a:ln/>
          <a:effectLst>
            <a:outerShdw blurRad="101600" dist="25400" dir="5400000" algn="bl" rotWithShape="0">
              <a:srgbClr val="6A2CC9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669173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683721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Penyebab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bagian ini:  </a:t>
            </a:r>
            <a:r>
              <a:rPr lang="en-US" sz="1450" i="1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Tunjukkan akar masalah, bukan sekadar gejalanya.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7955280" cy="3703320"/>
          </a:xfrm>
          <a:prstGeom prst="roundRect">
            <a:avLst>
              <a:gd name="adj" fmla="val 2963"/>
            </a:avLst>
          </a:prstGeom>
          <a:solidFill>
            <a:srgbClr val="F5F1FF"/>
          </a:solidFill>
          <a:ln w="12700">
            <a:solidFill>
              <a:srgbClr val="EFE7FF"/>
            </a:solidFill>
            <a:prstDash val="solid"/>
          </a:ln>
          <a:effectLst>
            <a:outerShdw blurRad="101600" dist="25400" dir="5400000" algn="bl" rotWithShape="0">
              <a:srgbClr val="C9BEE8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harus disampaikan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7223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Metode analisis: 5 Why atau Fishbone (cukup satu gambar ringkas).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Akar masalah utama yang akan diselesaikan.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Temuan / bukti yang mendukung akar masalah tersebut.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Ganti poin di atas dengan konten proyek Anda (grafik, tabel, foto, atau diagram).  ·  IAKA 2026 — Kerangka Presentasi Peserta</a:t>
            </a:r>
            <a:endParaRPr lang="en-US" sz="9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2748BE0-A4CA-0729-44E4-106E9392E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6239" y="11533"/>
            <a:ext cx="1140374" cy="6347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B6D5AAC-C76D-1890-13E0-0F084C57EB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8068" y="-179554"/>
            <a:ext cx="1448261" cy="8146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660861"/>
            <a:ext cx="731520" cy="731520"/>
          </a:xfrm>
          <a:prstGeom prst="ellipse">
            <a:avLst/>
          </a:prstGeom>
          <a:solidFill>
            <a:srgbClr val="6A2CC9"/>
          </a:solidFill>
          <a:ln/>
          <a:effectLst>
            <a:outerShdw blurRad="101600" dist="25400" dir="5400000" algn="bl" rotWithShape="0">
              <a:srgbClr val="6A2CC9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660861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615144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bagian ini:  </a:t>
            </a:r>
            <a:r>
              <a:rPr lang="en-US" sz="1450" i="1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Jelaskan solusi yang logis dan cukup sederhana untuk diuji skala kecil.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7955280" cy="3703320"/>
          </a:xfrm>
          <a:prstGeom prst="roundRect">
            <a:avLst>
              <a:gd name="adj" fmla="val 2963"/>
            </a:avLst>
          </a:prstGeom>
          <a:solidFill>
            <a:srgbClr val="F5F1FF"/>
          </a:solidFill>
          <a:ln w="12700">
            <a:solidFill>
              <a:srgbClr val="EFE7FF"/>
            </a:solidFill>
            <a:prstDash val="solid"/>
          </a:ln>
          <a:effectLst>
            <a:outerShdw blurRad="101600" dist="25400" dir="5400000" algn="bl" rotWithShape="0">
              <a:srgbClr val="C9BEE8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harus disampaikan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7223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&amp; mekanisme kerja: bagaimana solusi mengatasi akar masalah (sebab-akibat).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Unsur kebaruan / nilai tambah dibanding cara sekarang &amp; praktik unit lain.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proses Before → After (satu gambar sederhana).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perbaikan + estimasi dampak, dengan asumsi ditulis eksplisit.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Ganti poin di atas dengan konten proyek Anda (grafik, tabel, foto, atau diagram).  ·  IAKA 2026 — Kerangka Presentasi Peserta</a:t>
            </a:r>
            <a:endParaRPr lang="en-US" sz="9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414E8F2-A5B1-3F56-0F8B-39357A339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6239" y="11533"/>
            <a:ext cx="1140374" cy="6347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7AFAF28-00EA-4613-5CBC-84951BC19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8068" y="-179554"/>
            <a:ext cx="1448261" cy="8146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610986"/>
            <a:ext cx="731520" cy="731520"/>
          </a:xfrm>
          <a:prstGeom prst="ellipse">
            <a:avLst/>
          </a:prstGeom>
          <a:solidFill>
            <a:srgbClr val="6A2CC9"/>
          </a:solidFill>
          <a:ln/>
          <a:effectLst>
            <a:outerShdw blurRad="101600" dist="25400" dir="5400000" algn="bl" rotWithShape="0">
              <a:srgbClr val="6A2CC9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61098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556954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Implementasi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bagian ini:  </a:t>
            </a:r>
            <a:r>
              <a:rPr lang="en-US" sz="1450" i="1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Buktikan solusi benar-benar dijalankan dan hasilnya terukur (uji coba/MVP).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7955280" cy="3703320"/>
          </a:xfrm>
          <a:prstGeom prst="roundRect">
            <a:avLst>
              <a:gd name="adj" fmla="val 2963"/>
            </a:avLst>
          </a:prstGeom>
          <a:solidFill>
            <a:srgbClr val="F5F1FF"/>
          </a:solidFill>
          <a:ln w="12700">
            <a:solidFill>
              <a:srgbClr val="EFE7FF"/>
            </a:solidFill>
            <a:prstDash val="solid"/>
          </a:ln>
          <a:effectLst>
            <a:outerShdw blurRad="101600" dist="25400" dir="5400000" algn="bl" rotWithShape="0">
              <a:srgbClr val="C9BEE8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harus disampaikan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7223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Lingkup uji: lokasi, lini/shift, periode, dan PIC.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Kendala yang dihadapi &amp; cara penanggulangannya.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Before vs After: nilai, selisih, % perubahan, jumlah data (n).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Perbandingan realisasi vs </a:t>
            </a:r>
            <a:r>
              <a:rPr lang="en-US" sz="1450" dirty="0" err="1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rencana</a:t>
            </a:r>
            <a:r>
              <a:rPr lang="en-US" sz="1450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Ganti poin di atas dengan konten proyek Anda (grafik, tabel, foto, atau diagram).  ·  IAKA 2026 — Kerangka Presentasi Peserta</a:t>
            </a:r>
            <a:endParaRPr lang="en-US" sz="9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FB1BEF3-2E55-84AC-27CB-B08DDF2AE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6239" y="11533"/>
            <a:ext cx="1140374" cy="6347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3189091-A826-254D-C3B7-80DAB4A39A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8068" y="-179554"/>
            <a:ext cx="1448261" cy="8146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619299"/>
            <a:ext cx="731520" cy="731520"/>
          </a:xfrm>
          <a:prstGeom prst="ellipse">
            <a:avLst/>
          </a:prstGeom>
          <a:solidFill>
            <a:srgbClr val="6A2CC9"/>
          </a:solidFill>
          <a:ln/>
          <a:effectLst>
            <a:outerShdw blurRad="101600" dist="25400" dir="5400000" algn="bl" rotWithShape="0">
              <a:srgbClr val="6A2CC9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619299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606829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bagian ini:  </a:t>
            </a:r>
            <a:r>
              <a:rPr lang="en-US" sz="1450" i="1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Sajikan dampak yang sudah tervalidasi — finansial dan non-finansial.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7955280" cy="3703320"/>
          </a:xfrm>
          <a:prstGeom prst="roundRect">
            <a:avLst>
              <a:gd name="adj" fmla="val 2963"/>
            </a:avLst>
          </a:prstGeom>
          <a:solidFill>
            <a:srgbClr val="F5F1FF"/>
          </a:solidFill>
          <a:ln w="12700">
            <a:solidFill>
              <a:srgbClr val="EFE7FF"/>
            </a:solidFill>
            <a:prstDash val="solid"/>
          </a:ln>
          <a:effectLst>
            <a:outerShdw blurRad="101600" dist="25400" dir="5400000" algn="bl" rotWithShape="0">
              <a:srgbClr val="C9BEE8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harus disampaikan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7223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saving / cost avoidance / revenue, diukur vs baseline terverifikasi.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 bersih &amp; payback period 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 non-finansial: mutu, K3L, kepatuhan, kepuasan pengguna.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Keterkaitan dengan strategi perusahaan &amp; potensi replikasi.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Ganti poin di atas dengan konten proyek Anda (grafik, tabel, foto, atau diagram).  ·  IAKA 2026 — Kerangka Presentasi Peserta</a:t>
            </a:r>
            <a:endParaRPr lang="en-US" sz="9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13CABC3-586E-7F22-C24E-7E3D7593E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6239" y="11533"/>
            <a:ext cx="1140374" cy="6347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D540F0-33FD-3602-4087-CD7695575F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8068" y="-179554"/>
            <a:ext cx="1448261" cy="8146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627610"/>
            <a:ext cx="731520" cy="731520"/>
          </a:xfrm>
          <a:prstGeom prst="ellipse">
            <a:avLst/>
          </a:prstGeom>
          <a:solidFill>
            <a:srgbClr val="6A2CC9"/>
          </a:solidFill>
          <a:ln/>
          <a:effectLst>
            <a:outerShdw blurRad="101600" dist="25400" dir="5400000" algn="bl" rotWithShape="0">
              <a:srgbClr val="6A2CC9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62761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590203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bagian ini:  </a:t>
            </a:r>
            <a:r>
              <a:rPr lang="en-US" sz="1450" i="1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Kunci cara kerja baru agar tidak bergantung pada ingatan atau satu orang.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7955280" cy="3703320"/>
          </a:xfrm>
          <a:prstGeom prst="roundRect">
            <a:avLst>
              <a:gd name="adj" fmla="val 2963"/>
            </a:avLst>
          </a:prstGeom>
          <a:solidFill>
            <a:srgbClr val="F5F1FF"/>
          </a:solidFill>
          <a:ln w="12700">
            <a:solidFill>
              <a:srgbClr val="EFE7FF"/>
            </a:solidFill>
            <a:prstDash val="solid"/>
          </a:ln>
          <a:effectLst>
            <a:outerShdw blurRad="101600" dist="25400" dir="5400000" algn="bl" rotWithShape="0">
              <a:srgbClr val="C9BEE8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harus disampaikan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7223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/ IK baru: nomor dokumen, </a:t>
            </a:r>
            <a:r>
              <a:rPr lang="en-US" sz="1450" dirty="0" err="1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pengesahan</a:t>
            </a:r>
            <a:r>
              <a:rPr lang="en-US" sz="1450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knowledge: pelatihan + </a:t>
            </a:r>
            <a:r>
              <a:rPr lang="en-US" sz="1450" dirty="0" err="1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bukti</a:t>
            </a:r>
            <a:r>
              <a:rPr lang="en-US" sz="1450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50" dirty="0" err="1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pelaksanaan</a:t>
            </a:r>
            <a:r>
              <a:rPr lang="en-US" sz="1450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Ganti poin di atas dengan konten proyek Anda (grafik, tabel, foto, atau diagram).  ·  IAKA 2026 — Kerangka Presentasi Peserta</a:t>
            </a:r>
            <a:endParaRPr lang="en-US" sz="9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55FF66F-2B02-03E0-9576-6DAE99F43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6239" y="11533"/>
            <a:ext cx="1140374" cy="6347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4DD5B6A-805D-73DE-4FCE-471134F101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8068" y="-179554"/>
            <a:ext cx="1448261" cy="8146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610987"/>
            <a:ext cx="731520" cy="731520"/>
          </a:xfrm>
          <a:prstGeom prst="ellipse">
            <a:avLst/>
          </a:prstGeom>
          <a:solidFill>
            <a:srgbClr val="6A2CC9"/>
          </a:solidFill>
          <a:ln/>
          <a:effectLst>
            <a:outerShdw blurRad="101600" dist="25400" dir="5400000" algn="bl" rotWithShape="0">
              <a:srgbClr val="6A2CC9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610987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590203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Learned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bagian ini:  </a:t>
            </a:r>
            <a:r>
              <a:rPr lang="en-US" sz="1450" i="1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Bagikan pembelajaran agar inovasi/kaizen dapat direplikasi unit lain.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7955280" cy="3703320"/>
          </a:xfrm>
          <a:prstGeom prst="roundRect">
            <a:avLst>
              <a:gd name="adj" fmla="val 2963"/>
            </a:avLst>
          </a:prstGeom>
          <a:solidFill>
            <a:srgbClr val="F5F1FF"/>
          </a:solidFill>
          <a:ln w="12700">
            <a:solidFill>
              <a:srgbClr val="EFE7FF"/>
            </a:solidFill>
            <a:prstDash val="solid"/>
          </a:ln>
          <a:effectLst>
            <a:outerShdw blurRad="101600" dist="25400" dir="5400000" algn="bl" rotWithShape="0">
              <a:srgbClr val="C9BEE8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harus disampaikan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7223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Tantangan utama selama pelaksanaan proyek.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Mitigasi yang dilakukan untuk mengatasinya.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Pembelajaran yang didapat &amp; rekomendasi pengembangan.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 ringkas atas keseluruhan proyek.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Ganti poin di atas dengan konten proyek Anda (grafik, tabel, foto, atau diagram).  ·  IAKA 2026 — Kerangka Presentasi Peserta</a:t>
            </a:r>
            <a:endParaRPr lang="en-US" sz="9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8D59126-8548-61A7-0017-F07778DC5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6239" y="11533"/>
            <a:ext cx="1140374" cy="6347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B6288C3-0D77-7B8C-00A8-CEB921B939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8068" y="-179554"/>
            <a:ext cx="1448261" cy="81464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A1F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657600"/>
            <a:ext cx="4937760" cy="4937760"/>
          </a:xfrm>
          <a:prstGeom prst="ellipse">
            <a:avLst/>
          </a:prstGeom>
          <a:solidFill>
            <a:srgbClr val="CB69F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926080"/>
            <a:ext cx="1219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</a:t>
            </a:r>
            <a:endParaRPr lang="en-US" sz="3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B018F83-B0C6-14BE-1C69-1A5E797B7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0874" y="89912"/>
            <a:ext cx="1454649" cy="80970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FE47E46-A9B3-39FE-12A6-B1B0ED1FD8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17170" y="-139700"/>
            <a:ext cx="2339340" cy="1559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1047</Words>
  <Application>Microsoft Office PowerPoint</Application>
  <PresentationFormat>Widescreen</PresentationFormat>
  <Paragraphs>112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HY1-NB-080</cp:lastModifiedBy>
  <cp:revision>6</cp:revision>
  <dcterms:created xsi:type="dcterms:W3CDTF">2026-07-28T04:35:05Z</dcterms:created>
  <dcterms:modified xsi:type="dcterms:W3CDTF">2026-07-28T07:03:02Z</dcterms:modified>
</cp:coreProperties>
</file>