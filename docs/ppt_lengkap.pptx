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7" r:id="rId5"/>
    <p:sldId id="259" r:id="rId6"/>
    <p:sldId id="268" r:id="rId7"/>
    <p:sldId id="260" r:id="rId8"/>
    <p:sldId id="269" r:id="rId9"/>
    <p:sldId id="261" r:id="rId10"/>
    <p:sldId id="270" r:id="rId11"/>
    <p:sldId id="271" r:id="rId12"/>
    <p:sldId id="262" r:id="rId13"/>
    <p:sldId id="272" r:id="rId14"/>
    <p:sldId id="273" r:id="rId15"/>
    <p:sldId id="263" r:id="rId16"/>
    <p:sldId id="274" r:id="rId17"/>
    <p:sldId id="264" r:id="rId18"/>
    <p:sldId id="265" r:id="rId19"/>
    <p:sldId id="26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51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presentasi untuk peserta IAKA 2026. Sesuaikan bagian yang dibawakan dengan fase yang sedang dipresentasikan (lihat slide Alur).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tidak selalu dibawakan sekaligus. Pitching Fase 1 fokus pada bagian 1–4; bagian berikutnya menyusul sesuai kemajuan proyek di tiap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(Panduan BAB 1): kondisi saat ini, alasan penting, data awal. Setiap angka harus punya satuan, periode, dan sumber — tanpa itu dianggap belum terverifikasi.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(Panduan BAB 1): kondisi saat ini, alasan penting, data awal. Setiap angka harus punya satuan, periode, dan sumber — tanpa itu dianggap belum terverifikasi.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5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harus spesifik dan terukur. Cantumkan baseline dengan satuan jelas dan sumbernya (log produksi, laporan QC, tiket helpdesk, catatan keuangan) beserta periode pengambilan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harus spesifik dan terukur. Cantumkan baseline dengan satuan jelas dan sumbernya (log produksi, laporan QC, tiket helpdesk, catatan keuangan) beserta periode pengambilan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48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2): akar masalah dengan metode sederhana (5 Why / fishbone). Solusi Anda nanti harus jelas menyerang akar masalah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2): akar masalah dengan metode sederhana (5 Why / fishbone). Solusi Anda nanti harus jelas menyerang akar masalah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84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3–4): mekanisme kerja, keunggulan, kebaruan, alur before/after, target &amp; estimasi. Untuk Kaizen sebut SOP yang diperbaiki; untuk Inovasi sebut potensi standar baru / sumber pendapatan. Cantumkan rencana uji coba (MVP) dan calon Fasilitator min. Kadep.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3–4): mekanisme kerja, keunggulan, kebaruan, alur before/after, target &amp; estimasi. Untuk Kaizen sebut SOP yang diperbaiki; untuk Inovasi sebut potensi standar baru / sumber pendapatan. Cantumkan rencana uji coba (MVP) dan calon Fasilitator min. Kadep.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93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3–4): mekanisme kerja, keunggulan, kebaruan, alur before/after, target &amp; estimasi. Untuk Kaizen sebut SOP yang diperbaiki; untuk Inovasi sebut potensi standar baru / sumber pendapatan. Cantumkan rencana uji coba (MVP) dan calon Fasilitator min. Kadep.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347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6–7): laporan uji coba (PIC, lokasi, waktu, sumber daya), kendala &amp; problem solving, tabel Before/After dengan n dan grafik tren, dibandingkan target Fase 1. Lampirkan data mentah yang dapat diolah dan bukti bertanggal.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6–7): laporan uji coba (PIC, lokasi, waktu, sumber daya), kendala &amp; problem solving, tabel Before/After dengan n dan grafik tren, dibandingkan target Fase 1. Lampirkan data mentah yang dapat diolah dan bukti bertanggal.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820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6–7): laporan uji coba (PIC, lokasi, waktu, sumber daya), kendala &amp; problem solving, tabel Before/After dengan n dan grafik tren, dibandingkan target Fase 1. Lampirkan data mentah yang dapat diolah dan bukti bertanggal.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00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8–9): perhitungan business impact dengan kertas kerja terbuka (rumus dapat diperiksa), plus People/Customer/ESG impact. Setiap klaim non-finansial harus berbukti, sama seperti klaim finansial.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8–9): perhitungan business impact dengan kertas kerja terbuka (rumus dapat diperiksa), plus People/Customer/ESG impact. Setiap klaim non-finansial harus berbukti, sama seperti klaim finansial.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2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10): mekanisme keberlanjutan — pengesahan &amp; registrasi dokumen, dokumen turunan diperbarui, bukti sosialisasi, penutupan resmi sistem lama, transfer knowledge, jadwal audit keberlanjutan, dan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wajib (BAB 11–12): tantangan, mitigasi, pembelajaran, kesimpulan &amp; rekomendasi pengembangan.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pesan utama proyek dalam satu kalimat. Ingatkan penilaian IAKA 2026 berbasis bukti nyata di unit kerja.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CB69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PERURI | INNOVATION AWARD &amp; KAIZEN AWARD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OMTI KPI Monitoring &amp; Evidence Validation System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IAKA 2026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6A2CC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92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 OMTI | 2026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BD31F3-DBAE-CDA4-F47C-1AFBAA269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874" y="89912"/>
            <a:ext cx="1454649" cy="809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7B2836-D742-3AD4-8792-B14321731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7170" y="-139700"/>
            <a:ext cx="2339340" cy="1559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6300"/>
            <a:ext cx="640080" cy="64008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63509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0193" y="6005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Presentasi KPI Advisor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86252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87420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13" name="Text 11"/>
          <p:cNvSpPr/>
          <p:nvPr/>
        </p:nvSpPr>
        <p:spPr>
          <a:xfrm>
            <a:off x="35874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9132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23864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5032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18" name="Text 16"/>
          <p:cNvSpPr/>
          <p:nvPr/>
        </p:nvSpPr>
        <p:spPr>
          <a:xfrm>
            <a:off x="642503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6744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Penyebab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061475" y="187452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62643" y="207568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23" name="Text 21"/>
          <p:cNvSpPr/>
          <p:nvPr/>
        </p:nvSpPr>
        <p:spPr>
          <a:xfrm>
            <a:off x="9262643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44355" y="265176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386252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87420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33" name="Text 31"/>
          <p:cNvSpPr/>
          <p:nvPr/>
        </p:nvSpPr>
        <p:spPr>
          <a:xfrm>
            <a:off x="35874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69132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223864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25032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38" name="Text 36"/>
          <p:cNvSpPr/>
          <p:nvPr/>
        </p:nvSpPr>
        <p:spPr>
          <a:xfrm>
            <a:off x="6425032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6744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9061475" y="3566160"/>
            <a:ext cx="2581580" cy="1417320"/>
          </a:xfrm>
          <a:prstGeom prst="roundRect">
            <a:avLst>
              <a:gd name="adj" fmla="val 6452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76200" dist="25400" dir="5400000" algn="bl" rotWithShape="0">
              <a:srgbClr val="C9BEE8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262643" y="3767328"/>
            <a:ext cx="502920" cy="502920"/>
          </a:xfrm>
          <a:prstGeom prst="ellipse">
            <a:avLst/>
          </a:prstGeom>
          <a:solidFill>
            <a:srgbClr val="6A2CC9"/>
          </a:solidFill>
          <a:ln/>
        </p:spPr>
      </p:sp>
      <p:sp>
        <p:nvSpPr>
          <p:cNvPr id="43" name="Text 41"/>
          <p:cNvSpPr/>
          <p:nvPr/>
        </p:nvSpPr>
        <p:spPr>
          <a:xfrm>
            <a:off x="9262643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244355" y="4343400"/>
            <a:ext cx="22158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14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0B45A6D-F217-584F-7BD7-6C89F238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7D9AC1A-9783-8729-85B1-5CDC0A33A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35923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35923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40081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OMTI membutuhkan monitoring KPI yang cepat, konsisten, dan mudah diaudit.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OMTI 2026 memantau 8 KPI: implementasi aplikasi, cybersecurity, project traceability, SLA, investasi, enterprise architecture, AI adoption, dan IT maturity.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Evidence berasal dari dokumen proyek, laporan SLA, laporan investasi, dan berita acara; evaluator perlu membaca serta mengaitkannya dengan KPI dan initiative.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KPI Advisor mengubah monitoring berbasis dokumen menjadi alur digital terpusat: user mengunggah evidence, AI menganalisis, Laravel menjaga integritas perhitungan.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MeasurementSeeder; Draft OMTI 2026; Panduan Penggunaan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DED23D-D6B8-7AFC-F34D-C8768220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4527B6-43FF-EB7B-4A7A-2744354F3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35923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35923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40081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Baseline dan target harus terlihat sebelum evidence dianalisis.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Baseline proses: evidence dikumpulkan dan direview sebelum realisasi dapat ditetapkan; belum ada satu pipeline standar upload sampai score.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Target desain: 8 measurement x 4 quarter = 32 kombinasi target; initiative disimpan sebagai master data untuk matching AI.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Format yang didukung: PDF, DOCX, XLSX, JPG, JPEG, PNG; ukuran maksimum 10 MB per file.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Definition, formula, unit, bobot, target, dan initiative menjadi metadata yang dapat ditelusuri.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TargetSeeder; MeasurementSeeder; UploadEvidenceRequest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DED23D-D6B8-7AFC-F34D-C87682203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4527B6-43FF-EB7B-4A7A-2744354F3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2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3592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3592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23455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Menyatakan hambatan operasional yang terjadi sebelum KPI Advisor.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User atau evaluator harus mencari informasi KPI di banyak file lalu menafsirkan isi evidence secara manual.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Nama initiative, tahapan proyek, dan definisi KPI berisiko dipahami berbeda antar reviewer.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Status analisis tidak terpusat; antrian, kegagalan API, dan kebutuhan retry sulit dipantau.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Pihak terdampak: pemilik KPI, evaluator OMTI, reviewer evidence, dan manajemen yang membutuhkan laporan periode.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kualitatif proses sebelum digitalisasi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D748A-DD60-087F-9D4A-86FD7A0F4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96CE34-DB06-636E-57A5-2F4EE7B1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3592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3592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23455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Menjelaskan risiko dan kebutuhan kontrol secara terukur.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Risiko integritas: realisasi dapat tidak konsisten bila input, validasi, dan formula berada di proses yang terpisah.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Risiko keterlambatan: rekap manual menunggu proses membaca, mencocokkan, dan menghitung ulang setiap evidence.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Risiko audit: hubungan evidence -&gt; hasil AI -&gt; realisasi -&gt; score tidak otomatis tercatat dalam satu jejak.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Kebutuhan wajib: realisasi tidak boleh diinput manual; AI tidak boleh menghitung score, mengubah target, atau membuat initiative.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v-SE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AGENTS.md; Panduan Penggunaan; kebutuhan bisnis OMTI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D748A-DD60-087F-9D4A-86FD7A0F4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96CE34-DB06-636E-57A5-2F4EE7B18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0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9173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9173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83721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Penyebab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Menemukan akar masalah dengan pendekatan 5 Why.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Why 1: evaluasi KPI lambat? Karena reviewer membaca dan merekap evidence satu per satu.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Why 2: mengapa direkap manual? Karena file dan hasil review tidak berada pada pipeline terpusat.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Why 3: mengapa tidak terpusat? Karena belum ada metadata measurement, quarter, target, dan initiative yang terhubung.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Why 4-5: belum ada validasi respons AI dan service perhitungan yang menjaga source of truth.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Metode: 5 Why | Akar: pipeline evidence dan governance belum terintegrasi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748BE0-A4CA-0729-44E4-106E9392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6D5AAC-C76D-1890-13E0-0F084C57E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9173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9173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83721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Penyebab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Memvalidasi akar masalah dari sisi manusia, proses, data, teknologi, dan governance.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People: interpretasi dan input angka bergantung pada reviewer.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Process: belum ada alur baku upload -&gt; processing -&gt; validation -&gt; calculation -&gt; reporting.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Data: dokumen memiliki format dan struktur yang beragam; angka penting harus diekstraksi dari konteks.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Technology and governance: belum ada integrasi AI yang terkontrol, queue status, formula service, dan audit trail.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akar masalah: Fishbone ringkas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748BE0-A4CA-0729-44E4-106E9392E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6D5AAC-C76D-1890-13E0-0F084C57E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0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0861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0861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1514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Membangun pipeline evidence-to-score yang terkontrol dan sederhana bagi user.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KPI Advisor adalah aplikasi web Laravel 12 + MySQL dengan Blade, Tailwind CSS, Alpine.js, dan Chart.js.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Alur: master data -&gt; upload evidence -&gt; queue -&gt; prompt khusus measurement -&gt; Gemini -&gt; validasi JSON -&gt; realisasi -&gt; score dan report.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Laravel menjadi source of truth; Gemini hanya membaca evidence, memvalidasi, matching initiative, menentukan realisasi, dan memberi rekomendasi.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User cukup mengunggah evidence; perhitungan formula dan score selalu dijalankan oleh service Laravel.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Arsitektur: Laravel | Queue | Gemini | MySQL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14E8F2-A5B1-3F56-0F8B-39357A33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AFAF28-00EA-4613-5CBC-84951BC1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0861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0861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1514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Menunjukkan before-after dan nilai tambah solusi.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Before: file tersebar -&gt; review manual -&gt; realisasi manual -&gt; rekap spreadsheet -&gt; audit terpisah.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After: upload -&gt; status pending -&gt; ProcessEvidenceJob -&gt; Gemini JSON -&gt; ResponseValidator -&gt; realisasi source=ai -&gt; KPIService -&gt; dashboard.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Nilai tambah: prompt per measurement, matching hanya ke initiative master, raw JSON tersimpan, status dan retry tersedia.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Target perbaikan: setiap score memiliki hubungan yang dapat ditelusuri ke upload, respons AI, validasi, formula, dan user.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-&gt; After | Sumber: Panduan Penggunaan; ProcessEvidenceJob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14E8F2-A5B1-3F56-0F8B-39357A33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AFAF28-00EA-4613-5CBC-84951BC1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3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60861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60861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1514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Menetapkan guardrail agar AI tidak mengambil alih keputusan bisnis Laravel.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Response wajib JSON dengan measurement, evidence_valid, realisasi, analysis, serta struktur initiative dan confidence bila tersedia.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ResponseValidator memeriksa field wajib, tipe data, confidence 0-100, rekomendasi, dan item khusus SLA, investasi, serta traceability.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Gemini tidak boleh menghitung KPI, memilih formula, mengubah target, atau menciptakan initiative baru.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Jika API atau parsing gagal, upload tetap tersimpan sebagai failed, error dicatat, dan user dapat melakukan retry.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point: PromptManager | GeminiService | ResponseValidator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14E8F2-A5B1-3F56-0F8B-39357A33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AFAF28-00EA-4613-5CBC-84951BC1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7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098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098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5695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Membuktikan ruang lingkup MVP dan komponen yang benar-benar dijalankan.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Master data: Measurements, Targets per Q1-Q4, dan Initiatives untuk 8 KPI OMTI 2026.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Fitur utama: Dashboard, KPI Monitoring, Upload Evidence, AI Analysis, Reports, Audit Trail, Settings, dan Search.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Evidence mendukung PDF, DOCX, XLSX, JPG, JPEG, dan PNG dengan validasi MIME serta ukuran maksimum 10 MB.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Analisis berjalan asynchronous melalui queue; ProcessEvidenceJob memiliki 3 percobaan dan timeout 300 detik.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implementasi: aplikasi KPI Advisor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B1BEF3-2E55-84AC-27CB-B08DDF2A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189091-A826-254D-C3B7-80DAB4A39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098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098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5695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Menjelaskan realisasi alur end-to-end dan sumber evidence proyek.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Upload menyimpan file pada evidence/{year}/{quarter}/{uuid}.{ext} dan memberi status pending.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Worker mengubah status menjadi processing, membangun prompt, mengirim file ke Gemini, lalu menyimpan AiResult beserta raw JSON.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Evidence valid menghasilkan realisasi source=ai; KPIService menghitung achievement dan ScoreCalculator memetakan score band.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Contoh evidence yang disiapkan: go-live aplikasi AI, SLA Network/Aplikasi, dokumen investasi, traceability proyek, dan Enterprise Architecture.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evidence: docs/ai, docs/percepatan, docs/nilai_investasi, docs/traceability, docs/pencapaian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B1BEF3-2E55-84AC-27CB-B08DDF2A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189091-A826-254D-C3B7-80DAB4A39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43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0986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098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5695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Menetapkan kriteria validasi hasil agar implementasi dapat diaudit.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Status upload: pending, processing, completed, atau failed; kegagalan dianalisis melalui error message dan dapat di-retry.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Formula Laravel: Higher is Better, Lower is Better, dan Exact Target; achievement dibatasi maksimum 120%.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ScoreCalculator memakai band 50, 60, 70, 80, 90, 100, 110, dan 120 sesuai achievement.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mencatat request_ai, response_ai, validate_result, calculate_kpi, upload, perubahan master data, user, waktu, IP, dan user-agent.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nb-NO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penerimaan: hasil konsisten, terukur, dan traceable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B1BEF3-2E55-84AC-27CB-B08DDF2A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189091-A826-254D-C3B7-80DAB4A39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93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9299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929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06829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Menyajikan dampak yang sudah dapat diverifikasi dari desain dan implementasi sistem.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Cakupan terstruktur: 8 KPI OMTI 2026, 4 quarter, dan 32 kombinasi target yang dapat dimonitor per periode.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Coverage evidence: 6 tipe file didukung dengan validasi server-side sebelum masuk pipeline AI.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Kontrol hasil: 4 field AI wajib divalidasi; raw response disimpan untuk audit dan reproduksi pemeriksaan.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Dampak proses: status, queue, retry, realisasi source=ai, formula, score, report, dan audit berada dalam satu aplikasi.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terukur pada sistem | Angka berasal dari implementasi aplikasi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3CABC3-586E-7F22-C24E-7E3D7593E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D540F0-33FD-3602-4087-CD769557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9299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9299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606829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Menjelaskan dampak bisnis, batas klaim, dan potensi replikasi.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Non-finansial: proses lebih transparan, definisi KPI lebih konsisten, review lebih mudah ditelusuri, dan laporan periode lebih siap.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Strategis: mendukung digital platform, technology capabilities, security solutions, SPBE, operational excellence, dan value creation.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Potensi replikasi: measurement baru dapat memakai master data dan PromptManager tanpa menaruh business logic di Controller.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Cost saving dan payback period belum diklaim karena time study baseline dan data biaya aktual belum menjadi bagian implementasi ini.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klaim: dampak finansial memerlukan baseline time study terverifikasi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3CABC3-586E-7F22-C24E-7E3D7593E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D540F0-33FD-3602-4087-CD769557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9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27610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2761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90203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Mengunci cara kerja baru agar tidak bergantung pada satu orang.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Governance master data: Measurement menyimpan definition, formula, unit, dan weight; Target menyimpan year/quarter; Initiative menjadi referensi matching.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PromptManager menyediakan prompt per kategori measurement; perubahan business rule dilakukan terpusat dan terdokumentasi.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Panduan Penggunaan mendokumentasikan instalasi, login, dashboard, upload, AI analysis, perhitungan, audit, settings, dan troubleshooting.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Operasional rutin: pantau queue, review AI result, lakukan retry bila gagal, recalculate KPI bila diperlukan, dan perbarui audit trail.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control: master data | dokumentasi | queue | audit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5FF66F-2B02-03E0-9576-6DAE99F4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DD5B6A-805D-73DE-4FCE-471134F10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10987"/>
            <a:ext cx="731520" cy="731520"/>
          </a:xfrm>
          <a:prstGeom prst="ellipse">
            <a:avLst/>
          </a:prstGeom>
          <a:solidFill>
            <a:srgbClr val="6A2CC9"/>
          </a:solidFill>
          <a:ln/>
          <a:effectLst>
            <a:outerShdw blurRad="101600" dist="25400" dir="5400000" algn="bl" rotWithShape="0">
              <a:srgbClr val="6A2CC9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610987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590203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2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bagian ini: Membagikan pembelajaran agar solusi dapat direplikasi unit lain.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7955280" cy="3703320"/>
          </a:xfrm>
          <a:prstGeom prst="roundRect">
            <a:avLst>
              <a:gd name="adj" fmla="val 2963"/>
            </a:avLst>
          </a:prstGeom>
          <a:solidFill>
            <a:srgbClr val="F5F1FF"/>
          </a:solidFill>
          <a:ln w="12700">
            <a:solidFill>
              <a:srgbClr val="EFE7FF"/>
            </a:solidFill>
            <a:prstDash val="solid"/>
          </a:ln>
          <a:effectLst>
            <a:outerShdw blurRad="101600" dist="25400" dir="5400000" algn="bl" rotWithShape="0">
              <a:srgbClr val="C9BEE8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A2C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proyek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7223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Tantangan: dokumen heterogen, KPI memiliki formula dan lifecycle berbeda, serta API AI dapat mengalami quota atau parsing failure.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Mitigasi: prompt khusus measurement, output JSON, ResponseValidator, retry dan backoff, queue asynchronous, raw response, dan pesan error yang dapat ditindaklanjuti.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Pembelajaran utama: AI sebaiknya menjadi analyzer; keputusan formula, target, score, dan audit harus tetap berada di Laravel.</a:t>
            </a:r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>
                <a:solidFill>
                  <a:srgbClr val="333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Kesimpulan: KPI Advisor membangun rantai evidence -&gt; insight -&gt; realisasi -&gt; score yang lebih standar, transparan, dan scalable.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Kesimpulan: upload sekali, telusur sampai score  |  IAKA 2026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D59126-8548-61A7-0017-F07778DC5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239" y="11533"/>
            <a:ext cx="1140374" cy="6347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6288C3-0D77-7B8C-00A8-CEB921B93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68" y="-179554"/>
            <a:ext cx="1448261" cy="8146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F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4937760" cy="4937760"/>
          </a:xfrm>
          <a:prstGeom prst="ellipse">
            <a:avLst/>
          </a:prstGeom>
          <a:solidFill>
            <a:srgbClr val="CB69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926080"/>
            <a:ext cx="1219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018F83-B0C6-14BE-1C69-1A5E797B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874" y="89912"/>
            <a:ext cx="1454649" cy="8097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E47E46-A9B3-39FE-12A6-B1B0ED1FD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7170" y="-139700"/>
            <a:ext cx="2339340" cy="1559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2615</Words>
  <Application>Microsoft Office PowerPoint</Application>
  <PresentationFormat>Widescreen</PresentationFormat>
  <Paragraphs>204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imam sodik</cp:lastModifiedBy>
  <cp:revision>7</cp:revision>
  <dcterms:created xsi:type="dcterms:W3CDTF">2026-07-28T04:35:05Z</dcterms:created>
  <dcterms:modified xsi:type="dcterms:W3CDTF">2026-08-14T18:53:51Z</dcterms:modified>
</cp:coreProperties>
</file>